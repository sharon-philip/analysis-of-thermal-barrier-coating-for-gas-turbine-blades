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14_DB58A52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0" r:id="rId2"/>
    <p:sldId id="272" r:id="rId3"/>
    <p:sldId id="258" r:id="rId4"/>
    <p:sldId id="262" r:id="rId5"/>
    <p:sldId id="268" r:id="rId6"/>
    <p:sldId id="263" r:id="rId7"/>
    <p:sldId id="265" r:id="rId8"/>
    <p:sldId id="266" r:id="rId9"/>
    <p:sldId id="274" r:id="rId10"/>
    <p:sldId id="273" r:id="rId11"/>
    <p:sldId id="275" r:id="rId12"/>
    <p:sldId id="267" r:id="rId13"/>
    <p:sldId id="276" r:id="rId14"/>
    <p:sldId id="277" r:id="rId15"/>
    <p:sldId id="269" r:id="rId16"/>
    <p:sldId id="26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8299BC6-09C7-300D-1C31-EED43B2D54D6}" name="Sharon Philip" initials="SP" userId="e0479a11dc98487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comments/modernComment_114_DB58A520.xml><?xml version="1.0" encoding="utf-8"?>
<p188:cmLst xmlns:a="http://schemas.openxmlformats.org/drawingml/2006/main" xmlns:r="http://schemas.openxmlformats.org/officeDocument/2006/relationships" xmlns:p188="http://schemas.microsoft.com/office/powerpoint/2018/8/main">
  <p188:cm id="{63F48A5F-0B5C-47E0-B4EA-A92C2D495CFC}" authorId="{E8299BC6-09C7-300D-1C31-EED43B2D54D6}" created="2026-05-07T16:44:43.016">
    <pc:sldMkLst xmlns:pc="http://schemas.microsoft.com/office/powerpoint/2013/main/command">
      <pc:docMk/>
      <pc:sldMk cId="3680019744" sldId="276"/>
    </pc:sldMkLst>
    <p188:txBody>
      <a:bodyPr/>
      <a:lstStyle/>
      <a:p>
        <a:r>
          <a:rPr lang="en-IN"/>
          <a:t>Future work</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E80AB23-912A-454A-B435-8B7D9009B62C}"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8D60C5-C62C-4CCF-A619-893D07D6C94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801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80AB23-912A-454A-B435-8B7D9009B62C}"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8D60C5-C62C-4CCF-A619-893D07D6C94A}" type="slidenum">
              <a:rPr lang="en-IN" smtClean="0"/>
              <a:t>‹#›</a:t>
            </a:fld>
            <a:endParaRPr lang="en-IN"/>
          </a:p>
        </p:txBody>
      </p:sp>
    </p:spTree>
    <p:extLst>
      <p:ext uri="{BB962C8B-B14F-4D97-AF65-F5344CB8AC3E}">
        <p14:creationId xmlns:p14="http://schemas.microsoft.com/office/powerpoint/2010/main" val="1041008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80AB23-912A-454A-B435-8B7D9009B62C}"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8D60C5-C62C-4CCF-A619-893D07D6C94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4863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80AB23-912A-454A-B435-8B7D9009B62C}" type="datetimeFigureOut">
              <a:rPr lang="en-IN" smtClean="0"/>
              <a:t>31-07-2026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8D60C5-C62C-4CCF-A619-893D07D6C94A}" type="slidenum">
              <a:rPr lang="en-IN" smtClean="0"/>
              <a:t>‹#›</a:t>
            </a:fld>
            <a:endParaRPr lang="en-IN"/>
          </a:p>
        </p:txBody>
      </p:sp>
    </p:spTree>
    <p:extLst>
      <p:ext uri="{BB962C8B-B14F-4D97-AF65-F5344CB8AC3E}">
        <p14:creationId xmlns:p14="http://schemas.microsoft.com/office/powerpoint/2010/main" val="198560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E80AB23-912A-454A-B435-8B7D9009B62C}" type="datetimeFigureOut">
              <a:rPr lang="en-IN" smtClean="0"/>
              <a:t>31-07-2026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88D60C5-C62C-4CCF-A619-893D07D6C94A}" type="slidenum">
              <a:rPr lang="en-IN" smtClean="0"/>
              <a:t>‹#›</a:t>
            </a:fld>
            <a:endParaRPr lang="en-IN"/>
          </a:p>
        </p:txBody>
      </p:sp>
    </p:spTree>
    <p:extLst>
      <p:ext uri="{BB962C8B-B14F-4D97-AF65-F5344CB8AC3E}">
        <p14:creationId xmlns:p14="http://schemas.microsoft.com/office/powerpoint/2010/main" val="672833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E80AB23-912A-454A-B435-8B7D9009B62C}" type="datetimeFigureOut">
              <a:rPr lang="en-IN" smtClean="0"/>
              <a:t>31-07-2026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88D60C5-C62C-4CCF-A619-893D07D6C94A}" type="slidenum">
              <a:rPr lang="en-IN" smtClean="0"/>
              <a:t>‹#›</a:t>
            </a:fld>
            <a:endParaRPr lang="en-IN"/>
          </a:p>
        </p:txBody>
      </p:sp>
    </p:spTree>
    <p:extLst>
      <p:ext uri="{BB962C8B-B14F-4D97-AF65-F5344CB8AC3E}">
        <p14:creationId xmlns:p14="http://schemas.microsoft.com/office/powerpoint/2010/main" val="1518697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Date Placeholder 6"/>
          <p:cNvSpPr>
            <a:spLocks noGrp="1"/>
          </p:cNvSpPr>
          <p:nvPr>
            <p:ph type="dt" sz="half" idx="10"/>
          </p:nvPr>
        </p:nvSpPr>
        <p:spPr/>
        <p:txBody>
          <a:bodyPr/>
          <a:lstStyle/>
          <a:p>
            <a:fld id="{4E80AB23-912A-454A-B435-8B7D9009B62C}" type="datetimeFigureOut">
              <a:rPr lang="en-IN" smtClean="0"/>
              <a:t>31-07-2026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88D60C5-C62C-4CCF-A619-893D07D6C94A}" type="slidenum">
              <a:rPr lang="en-IN" smtClean="0"/>
              <a:t>‹#›</a:t>
            </a:fld>
            <a:endParaRPr lang="en-IN"/>
          </a:p>
        </p:txBody>
      </p:sp>
    </p:spTree>
    <p:extLst>
      <p:ext uri="{BB962C8B-B14F-4D97-AF65-F5344CB8AC3E}">
        <p14:creationId xmlns:p14="http://schemas.microsoft.com/office/powerpoint/2010/main" val="3834462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E80AB23-912A-454A-B435-8B7D9009B62C}" type="datetimeFigureOut">
              <a:rPr lang="en-IN" smtClean="0"/>
              <a:t>31-07-2026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88D60C5-C62C-4CCF-A619-893D07D6C94A}" type="slidenum">
              <a:rPr lang="en-IN" smtClean="0"/>
              <a:t>‹#›</a:t>
            </a:fld>
            <a:endParaRPr lang="en-IN"/>
          </a:p>
        </p:txBody>
      </p:sp>
    </p:spTree>
    <p:extLst>
      <p:ext uri="{BB962C8B-B14F-4D97-AF65-F5344CB8AC3E}">
        <p14:creationId xmlns:p14="http://schemas.microsoft.com/office/powerpoint/2010/main" val="1057442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80AB23-912A-454A-B435-8B7D9009B62C}" type="datetimeFigureOut">
              <a:rPr lang="en-IN" smtClean="0"/>
              <a:t>31-07-2026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88D60C5-C62C-4CCF-A619-893D07D6C94A}" type="slidenum">
              <a:rPr lang="en-IN" smtClean="0"/>
              <a:t>‹#›</a:t>
            </a:fld>
            <a:endParaRPr lang="en-IN"/>
          </a:p>
        </p:txBody>
      </p:sp>
    </p:spTree>
    <p:extLst>
      <p:ext uri="{BB962C8B-B14F-4D97-AF65-F5344CB8AC3E}">
        <p14:creationId xmlns:p14="http://schemas.microsoft.com/office/powerpoint/2010/main" val="3589428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80AB23-912A-454A-B435-8B7D9009B62C}"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8D60C5-C62C-4CCF-A619-893D07D6C94A}" type="slidenum">
              <a:rPr lang="en-IN" smtClean="0"/>
              <a:t>‹#›</a:t>
            </a:fld>
            <a:endParaRPr lang="en-IN"/>
          </a:p>
        </p:txBody>
      </p:sp>
    </p:spTree>
    <p:extLst>
      <p:ext uri="{BB962C8B-B14F-4D97-AF65-F5344CB8AC3E}">
        <p14:creationId xmlns:p14="http://schemas.microsoft.com/office/powerpoint/2010/main" val="3657510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80AB23-912A-454A-B435-8B7D9009B62C}" type="datetimeFigureOut">
              <a:rPr lang="en-IN" smtClean="0"/>
              <a:t>31-07-2026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88D60C5-C62C-4CCF-A619-893D07D6C94A}" type="slidenum">
              <a:rPr lang="en-IN" smtClean="0"/>
              <a:t>‹#›</a:t>
            </a:fld>
            <a:endParaRPr lang="en-IN"/>
          </a:p>
        </p:txBody>
      </p:sp>
    </p:spTree>
    <p:extLst>
      <p:ext uri="{BB962C8B-B14F-4D97-AF65-F5344CB8AC3E}">
        <p14:creationId xmlns:p14="http://schemas.microsoft.com/office/powerpoint/2010/main" val="2102409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E80AB23-912A-454A-B435-8B7D9009B62C}" type="datetimeFigureOut">
              <a:rPr lang="en-IN" smtClean="0"/>
              <a:t>31-07-2026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88D60C5-C62C-4CCF-A619-893D07D6C94A}"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28552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07/relationships/media" Target="../media/media2.mp4"/><Relationship Id="rId7" Type="http://schemas.openxmlformats.org/officeDocument/2006/relationships/image" Target="../media/image1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3.png"/><Relationship Id="rId5" Type="http://schemas.openxmlformats.org/officeDocument/2006/relationships/slideLayout" Target="../slideLayouts/slideLayout7.xml"/><Relationship Id="rId4" Type="http://schemas.openxmlformats.org/officeDocument/2006/relationships/video" Target="../media/media2.mp4"/></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microsoft.com/office/2018/10/relationships/comments" Target="../comments/modernComment_114_DB58A520.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29F4A0-40F0-DB47-8810-E717012D6EBD}"/>
              </a:ext>
            </a:extLst>
          </p:cNvPr>
          <p:cNvSpPr txBox="1"/>
          <p:nvPr/>
        </p:nvSpPr>
        <p:spPr>
          <a:xfrm>
            <a:off x="0" y="273961"/>
            <a:ext cx="12191999" cy="1569660"/>
          </a:xfrm>
          <a:prstGeom prst="rect">
            <a:avLst/>
          </a:prstGeom>
          <a:noFill/>
        </p:spPr>
        <p:txBody>
          <a:bodyPr wrap="square" rtlCol="0">
            <a:spAutoFit/>
          </a:bodyPr>
          <a:lstStyle/>
          <a:p>
            <a:pPr algn="ctr"/>
            <a:r>
              <a:rPr lang="en-US" sz="48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Analysis of Thermal Barrier Coating </a:t>
            </a:r>
            <a:br>
              <a:rPr lang="en-US" sz="48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br>
            <a:r>
              <a:rPr lang="en-US" sz="48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for Gas Turbine Blade</a:t>
            </a:r>
            <a:endParaRPr lang="en-IN" sz="48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37529AC5-A85A-E631-8831-CCB32AB4F4BC}"/>
              </a:ext>
            </a:extLst>
          </p:cNvPr>
          <p:cNvSpPr txBox="1"/>
          <p:nvPr/>
        </p:nvSpPr>
        <p:spPr>
          <a:xfrm>
            <a:off x="0" y="5006228"/>
            <a:ext cx="12191999" cy="738664"/>
          </a:xfrm>
          <a:prstGeom prst="rect">
            <a:avLst/>
          </a:prstGeom>
          <a:noFill/>
        </p:spPr>
        <p:txBody>
          <a:bodyPr wrap="square" rtlCol="0">
            <a:spAutoFit/>
          </a:bodyPr>
          <a:lstStyle/>
          <a:p>
            <a:pPr algn="ctr"/>
            <a:r>
              <a:rPr lang="en-IN" sz="2400" b="1" i="1" dirty="0">
                <a:latin typeface="Times New Roman" panose="02020603050405020304" pitchFamily="18" charset="0"/>
                <a:cs typeface="Times New Roman" panose="02020603050405020304" pitchFamily="18" charset="0"/>
              </a:rPr>
              <a:t>Presented by</a:t>
            </a:r>
            <a:r>
              <a:rPr lang="en-IN" sz="2400" b="1" dirty="0"/>
              <a:t>: Sharon Philip</a:t>
            </a:r>
          </a:p>
          <a:p>
            <a:pPr algn="ctr"/>
            <a:r>
              <a:rPr lang="en-IN" b="1" dirty="0">
                <a:latin typeface="Times New Roman" panose="02020603050405020304" pitchFamily="18" charset="0"/>
                <a:cs typeface="Times New Roman" panose="02020603050405020304" pitchFamily="18" charset="0"/>
              </a:rPr>
              <a:t>Reg no : BSERC -06519</a:t>
            </a:r>
          </a:p>
        </p:txBody>
      </p:sp>
      <p:sp>
        <p:nvSpPr>
          <p:cNvPr id="7" name="TextBox 6">
            <a:extLst>
              <a:ext uri="{FF2B5EF4-FFF2-40B4-BE49-F238E27FC236}">
                <a16:creationId xmlns:a16="http://schemas.microsoft.com/office/drawing/2014/main" id="{E30E4A4F-2C6B-7156-1E67-4CC0D14F8DE2}"/>
              </a:ext>
            </a:extLst>
          </p:cNvPr>
          <p:cNvSpPr txBox="1"/>
          <p:nvPr/>
        </p:nvSpPr>
        <p:spPr>
          <a:xfrm>
            <a:off x="2" y="2008823"/>
            <a:ext cx="12191998"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Bharat Space Education Research Centre</a:t>
            </a:r>
            <a:endParaRPr lang="en-IN" sz="24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F964A2A-758A-AFA2-50F3-D789C270CA69}"/>
              </a:ext>
            </a:extLst>
          </p:cNvPr>
          <p:cNvPicPr>
            <a:picLocks noChangeAspect="1"/>
          </p:cNvPicPr>
          <p:nvPr/>
        </p:nvPicPr>
        <p:blipFill>
          <a:blip r:embed="rId2"/>
          <a:stretch>
            <a:fillRect/>
          </a:stretch>
        </p:blipFill>
        <p:spPr>
          <a:xfrm>
            <a:off x="5077879" y="2885487"/>
            <a:ext cx="2036240" cy="1932599"/>
          </a:xfrm>
          <a:prstGeom prst="rect">
            <a:avLst/>
          </a:prstGeom>
        </p:spPr>
      </p:pic>
    </p:spTree>
    <p:extLst>
      <p:ext uri="{BB962C8B-B14F-4D97-AF65-F5344CB8AC3E}">
        <p14:creationId xmlns:p14="http://schemas.microsoft.com/office/powerpoint/2010/main" val="407888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C7891B-8552-6C41-319A-92410F2EC8A0}"/>
              </a:ext>
            </a:extLst>
          </p:cNvPr>
          <p:cNvSpPr txBox="1"/>
          <p:nvPr/>
        </p:nvSpPr>
        <p:spPr>
          <a:xfrm>
            <a:off x="3048000" y="415102"/>
            <a:ext cx="6096000" cy="830997"/>
          </a:xfrm>
          <a:prstGeom prst="rect">
            <a:avLst/>
          </a:prstGeom>
          <a:noFill/>
        </p:spPr>
        <p:txBody>
          <a:bodyPr wrap="square">
            <a:spAutoFit/>
          </a:bodyPr>
          <a:lstStyle/>
          <a:p>
            <a:pPr algn="ctr"/>
            <a:r>
              <a:rPr lang="en-IN" sz="4800" dirty="0">
                <a:latin typeface="Algerian" panose="04020705040A02060702" pitchFamily="82" charset="0"/>
              </a:rPr>
              <a:t>Introduction</a:t>
            </a:r>
          </a:p>
        </p:txBody>
      </p:sp>
      <p:sp>
        <p:nvSpPr>
          <p:cNvPr id="5" name="TextBox 4">
            <a:extLst>
              <a:ext uri="{FF2B5EF4-FFF2-40B4-BE49-F238E27FC236}">
                <a16:creationId xmlns:a16="http://schemas.microsoft.com/office/drawing/2014/main" id="{B3F8E0C1-AC51-0C96-2898-CAD99C5E55D4}"/>
              </a:ext>
            </a:extLst>
          </p:cNvPr>
          <p:cNvSpPr txBox="1"/>
          <p:nvPr/>
        </p:nvSpPr>
        <p:spPr>
          <a:xfrm>
            <a:off x="281449" y="4673494"/>
            <a:ext cx="7590503" cy="1200329"/>
          </a:xfrm>
          <a:prstGeom prst="rect">
            <a:avLst/>
          </a:prstGeom>
          <a:noFill/>
        </p:spPr>
        <p:txBody>
          <a:bodyPr wrap="square">
            <a:spAutoFit/>
          </a:bodyPr>
          <a:lstStyle/>
          <a:p>
            <a:r>
              <a:rPr lang="en-US" sz="2400" i="1" dirty="0"/>
              <a:t>A study using ANSYS to evaluate how YSZ ceramic coatings reduce heat transfer and improve durability in high-temperature turbine environments.</a:t>
            </a:r>
          </a:p>
        </p:txBody>
      </p:sp>
      <p:sp>
        <p:nvSpPr>
          <p:cNvPr id="14" name="Rectangle 5">
            <a:extLst>
              <a:ext uri="{FF2B5EF4-FFF2-40B4-BE49-F238E27FC236}">
                <a16:creationId xmlns:a16="http://schemas.microsoft.com/office/drawing/2014/main" id="{4A7AF3AD-E3E3-C19D-772D-C8B2E1833E25}"/>
              </a:ext>
            </a:extLst>
          </p:cNvPr>
          <p:cNvSpPr>
            <a:spLocks noChangeArrowheads="1"/>
          </p:cNvSpPr>
          <p:nvPr/>
        </p:nvSpPr>
        <p:spPr bwMode="auto">
          <a:xfrm>
            <a:off x="274073" y="1246099"/>
            <a:ext cx="776123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sz="2400" dirty="0"/>
              <a:t>A gas turbine blade is a key component in engines where hot gases strike the blade and cause it to rotate, generating power. Since it operates at extremely high temperatures, protecting it from heat is very important.</a:t>
            </a:r>
          </a:p>
          <a:p>
            <a:pPr lvl="0" algn="just" defTabSz="914400" eaLnBrk="0" fontAlgn="base" hangingPunct="0">
              <a:spcBef>
                <a:spcPct val="0"/>
              </a:spcBef>
              <a:spcAft>
                <a:spcPct val="0"/>
              </a:spcAft>
            </a:pPr>
            <a:r>
              <a:rPr lang="en-US" sz="2400" dirty="0"/>
              <a:t>To protect the blade material from excessive heat, Thermal Barrier Coatings (TBC) are used. In this project, </a:t>
            </a:r>
            <a:r>
              <a:rPr lang="en-US" sz="2400" dirty="0">
                <a:solidFill>
                  <a:srgbClr val="002060"/>
                </a:solidFill>
              </a:rPr>
              <a:t>Yttria-Stabilized Zirconia (YSZ)</a:t>
            </a:r>
            <a:r>
              <a:rPr lang="en-US" sz="2400" dirty="0"/>
              <a:t> coating is applied on an </a:t>
            </a:r>
            <a:r>
              <a:rPr lang="en-US" sz="2400" dirty="0">
                <a:solidFill>
                  <a:srgbClr val="002060"/>
                </a:solidFill>
              </a:rPr>
              <a:t>Inconel 713 </a:t>
            </a:r>
            <a:r>
              <a:rPr lang="en-US" sz="2400" dirty="0"/>
              <a:t>gas turbine blade to improve thermal resistance and reduce heat transfer.</a:t>
            </a:r>
            <a:endParaRPr kumimoji="0" lang="en-US" altLang="en-US" sz="2400" i="0" u="none" strike="noStrike" cap="none" normalizeH="0" baseline="0" dirty="0">
              <a:ln>
                <a:noFill/>
              </a:ln>
              <a:solidFill>
                <a:schemeClr val="tx1"/>
              </a:solidFill>
              <a:effectLst/>
            </a:endParaRPr>
          </a:p>
        </p:txBody>
      </p:sp>
      <p:pic>
        <p:nvPicPr>
          <p:cNvPr id="1026" name="Picture 2" descr="60+ Jetengine Stock Photos, Pictures &amp; Royalty-Free Images - iStock">
            <a:extLst>
              <a:ext uri="{FF2B5EF4-FFF2-40B4-BE49-F238E27FC236}">
                <a16:creationId xmlns:a16="http://schemas.microsoft.com/office/drawing/2014/main" id="{FF07C0C2-B3D3-4BBB-19F0-903784EC61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5300" y="1485900"/>
            <a:ext cx="3922570" cy="4286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7771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2A68D5-2176-8D06-4D17-958BD12E671E}"/>
              </a:ext>
            </a:extLst>
          </p:cNvPr>
          <p:cNvSpPr>
            <a:spLocks noGrp="1"/>
          </p:cNvSpPr>
          <p:nvPr>
            <p:ph type="title"/>
          </p:nvPr>
        </p:nvSpPr>
        <p:spPr>
          <a:xfrm>
            <a:off x="1097280" y="286603"/>
            <a:ext cx="10058400" cy="922765"/>
          </a:xfrm>
        </p:spPr>
        <p:txBody>
          <a:bodyPr/>
          <a:lstStyle/>
          <a:p>
            <a:pPr algn="ctr"/>
            <a:r>
              <a:rPr lang="en-IN" dirty="0">
                <a:latin typeface="Algerian" panose="04020705040A02060702" pitchFamily="82" charset="0"/>
              </a:rPr>
              <a:t>Problem Statement</a:t>
            </a:r>
          </a:p>
        </p:txBody>
      </p:sp>
      <p:sp>
        <p:nvSpPr>
          <p:cNvPr id="4" name="Content Placeholder 3">
            <a:extLst>
              <a:ext uri="{FF2B5EF4-FFF2-40B4-BE49-F238E27FC236}">
                <a16:creationId xmlns:a16="http://schemas.microsoft.com/office/drawing/2014/main" id="{DC2096B2-3B78-C376-9685-2FFF03FDECA8}"/>
              </a:ext>
            </a:extLst>
          </p:cNvPr>
          <p:cNvSpPr>
            <a:spLocks noGrp="1"/>
          </p:cNvSpPr>
          <p:nvPr>
            <p:ph sz="half" idx="1"/>
          </p:nvPr>
        </p:nvSpPr>
        <p:spPr>
          <a:xfrm>
            <a:off x="1097279" y="1845734"/>
            <a:ext cx="5372348" cy="4023360"/>
          </a:xfrm>
        </p:spPr>
        <p:txBody>
          <a:bodyPr>
            <a:normAutofit/>
          </a:bodyPr>
          <a:lstStyle/>
          <a:p>
            <a:r>
              <a:rPr lang="en-US" altLang="en-US" sz="2400" dirty="0">
                <a:solidFill>
                  <a:schemeClr val="tx1"/>
                </a:solidFill>
              </a:rPr>
              <a:t>Gas turbine blades operate at very high temperatures. In this High temperature leads to material degradation and failure</a:t>
            </a:r>
            <a:r>
              <a:rPr lang="en-US" altLang="en-US" sz="2400" dirty="0"/>
              <a:t>. </a:t>
            </a:r>
            <a:r>
              <a:rPr lang="en-US" altLang="en-US" sz="2400" dirty="0">
                <a:solidFill>
                  <a:schemeClr val="tx1"/>
                </a:solidFill>
              </a:rPr>
              <a:t>So Thermal protection is essential for performance and safety.</a:t>
            </a:r>
          </a:p>
          <a:p>
            <a:r>
              <a:rPr lang="en-US" altLang="en-US" sz="2400" dirty="0">
                <a:solidFill>
                  <a:schemeClr val="tx1"/>
                </a:solidFill>
              </a:rPr>
              <a:t>Thermal Barrier Coatings (TBC) are used to reduce heat transfer </a:t>
            </a:r>
            <a:r>
              <a:rPr lang="en-US" altLang="en-US" sz="2400" dirty="0"/>
              <a:t>a</a:t>
            </a:r>
            <a:r>
              <a:rPr lang="en-US" altLang="en-US" sz="2400" dirty="0">
                <a:solidFill>
                  <a:schemeClr val="tx1"/>
                </a:solidFill>
              </a:rPr>
              <a:t>nd YSZ (Yttria-Stabilized Zonia) is a widely used TBC material.</a:t>
            </a:r>
            <a:endParaRPr lang="en-US" sz="2400" dirty="0"/>
          </a:p>
        </p:txBody>
      </p:sp>
      <p:sp>
        <p:nvSpPr>
          <p:cNvPr id="5" name="Content Placeholder 4">
            <a:extLst>
              <a:ext uri="{FF2B5EF4-FFF2-40B4-BE49-F238E27FC236}">
                <a16:creationId xmlns:a16="http://schemas.microsoft.com/office/drawing/2014/main" id="{A418E71E-48E3-27B4-F256-31E6E8B17036}"/>
              </a:ext>
            </a:extLst>
          </p:cNvPr>
          <p:cNvSpPr>
            <a:spLocks noGrp="1"/>
          </p:cNvSpPr>
          <p:nvPr>
            <p:ph sz="half" idx="2"/>
          </p:nvPr>
        </p:nvSpPr>
        <p:spPr>
          <a:xfrm flipV="1">
            <a:off x="12654116" y="5440680"/>
            <a:ext cx="235974" cy="507836"/>
          </a:xfrm>
        </p:spPr>
        <p:txBody>
          <a:bodyPr/>
          <a:lstStyle/>
          <a:p>
            <a:pPr marL="0" indent="0">
              <a:buNone/>
            </a:pPr>
            <a:endParaRPr lang="en-IN" dirty="0"/>
          </a:p>
        </p:txBody>
      </p:sp>
      <p:pic>
        <p:nvPicPr>
          <p:cNvPr id="2050" name="Picture 2">
            <a:extLst>
              <a:ext uri="{FF2B5EF4-FFF2-40B4-BE49-F238E27FC236}">
                <a16:creationId xmlns:a16="http://schemas.microsoft.com/office/drawing/2014/main" id="{E9B424DE-E922-F10D-2028-2DAED73319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9492" y="1740310"/>
            <a:ext cx="5592508" cy="4128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7726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C58EA-16AF-FDED-D897-108FAC61AC17}"/>
              </a:ext>
            </a:extLst>
          </p:cNvPr>
          <p:cNvSpPr>
            <a:spLocks noGrp="1"/>
          </p:cNvSpPr>
          <p:nvPr>
            <p:ph type="title" idx="4294967295"/>
          </p:nvPr>
        </p:nvSpPr>
        <p:spPr>
          <a:xfrm>
            <a:off x="68826" y="287339"/>
            <a:ext cx="12123174" cy="641578"/>
          </a:xfrm>
        </p:spPr>
        <p:txBody>
          <a:bodyPr>
            <a:normAutofit fontScale="90000"/>
          </a:bodyPr>
          <a:lstStyle/>
          <a:p>
            <a:pPr algn="ctr"/>
            <a:r>
              <a:rPr lang="en-IN" dirty="0">
                <a:latin typeface="Algerian" panose="04020705040A02060702" pitchFamily="82" charset="0"/>
              </a:rPr>
              <a:t>Material </a:t>
            </a:r>
          </a:p>
        </p:txBody>
      </p:sp>
      <p:sp>
        <p:nvSpPr>
          <p:cNvPr id="3" name="TextBox 2">
            <a:extLst>
              <a:ext uri="{FF2B5EF4-FFF2-40B4-BE49-F238E27FC236}">
                <a16:creationId xmlns:a16="http://schemas.microsoft.com/office/drawing/2014/main" id="{24FD5BDA-6348-F4A5-5851-329DB9EBFED2}"/>
              </a:ext>
            </a:extLst>
          </p:cNvPr>
          <p:cNvSpPr txBox="1"/>
          <p:nvPr/>
        </p:nvSpPr>
        <p:spPr>
          <a:xfrm>
            <a:off x="595836" y="1081548"/>
            <a:ext cx="10058399" cy="3785652"/>
          </a:xfrm>
          <a:prstGeom prst="rect">
            <a:avLst/>
          </a:prstGeom>
          <a:noFill/>
        </p:spPr>
        <p:txBody>
          <a:bodyPr wrap="square" rtlCol="0">
            <a:spAutoFit/>
          </a:bodyPr>
          <a:lstStyle/>
          <a:p>
            <a:r>
              <a:rPr lang="en-IN" sz="2400" dirty="0"/>
              <a:t>Material using as coating at the top of </a:t>
            </a:r>
            <a:r>
              <a:rPr lang="en-IN" sz="2400" b="1" dirty="0">
                <a:solidFill>
                  <a:srgbClr val="002060"/>
                </a:solidFill>
              </a:rPr>
              <a:t>Inconel 713 </a:t>
            </a:r>
          </a:p>
          <a:p>
            <a:endParaRPr lang="en-IN" sz="2400" dirty="0"/>
          </a:p>
          <a:p>
            <a:r>
              <a:rPr lang="en-IN" sz="2400" b="1" dirty="0">
                <a:solidFill>
                  <a:srgbClr val="FF0000"/>
                </a:solidFill>
              </a:rPr>
              <a:t>YSZ (Yttria stabilized zirconia)</a:t>
            </a:r>
          </a:p>
          <a:p>
            <a:pPr marL="285750" indent="-285750">
              <a:buFont typeface="Arial" panose="020B0604020202020204" pitchFamily="34" charset="0"/>
              <a:buChar char="•"/>
            </a:pPr>
            <a:r>
              <a:rPr lang="en-IN" sz="2400" dirty="0"/>
              <a:t>Low thermal conductivity </a:t>
            </a:r>
          </a:p>
          <a:p>
            <a:pPr marL="285750" indent="-285750">
              <a:buFont typeface="Arial" panose="020B0604020202020204" pitchFamily="34" charset="0"/>
              <a:buChar char="•"/>
            </a:pPr>
            <a:r>
              <a:rPr lang="en-IN" sz="2400" dirty="0"/>
              <a:t>Reduces heat transfer</a:t>
            </a:r>
          </a:p>
          <a:p>
            <a:pPr marL="285750" indent="-285750">
              <a:buFont typeface="Arial" panose="020B0604020202020204" pitchFamily="34" charset="0"/>
              <a:buChar char="•"/>
            </a:pPr>
            <a:r>
              <a:rPr lang="en-IN" sz="2400" dirty="0"/>
              <a:t>Reduces deformation of blade</a:t>
            </a:r>
          </a:p>
          <a:p>
            <a:pPr marL="285750" indent="-285750">
              <a:buFont typeface="Arial" panose="020B0604020202020204" pitchFamily="34" charset="0"/>
              <a:buChar char="•"/>
            </a:pPr>
            <a:r>
              <a:rPr lang="en-IN" sz="2400" dirty="0"/>
              <a:t>Prevents cracking and failure</a:t>
            </a:r>
          </a:p>
          <a:p>
            <a:pPr marL="285750" indent="-285750">
              <a:buFont typeface="Arial" panose="020B0604020202020204" pitchFamily="34" charset="0"/>
              <a:buChar char="•"/>
            </a:pPr>
            <a:r>
              <a:rPr lang="en-IN" sz="2400" dirty="0"/>
              <a:t>High resistance to oxidation and corrosion</a:t>
            </a:r>
          </a:p>
          <a:p>
            <a:pPr marL="285750" indent="-285750">
              <a:buFont typeface="Arial" panose="020B0604020202020204" pitchFamily="34" charset="0"/>
              <a:buChar char="•"/>
            </a:pPr>
            <a:r>
              <a:rPr lang="en-IN" sz="2400" dirty="0"/>
              <a:t>Improves turbine blade life</a:t>
            </a:r>
          </a:p>
          <a:p>
            <a:pPr marL="285750" indent="-285750">
              <a:buFont typeface="Arial" panose="020B0604020202020204" pitchFamily="34" charset="0"/>
              <a:buChar char="•"/>
            </a:pPr>
            <a:r>
              <a:rPr lang="en-IN" sz="2400" dirty="0"/>
              <a:t>Best performance among YSZ, </a:t>
            </a:r>
            <a:r>
              <a:rPr lang="en-IN" sz="2400" dirty="0" err="1"/>
              <a:t>Al₂O</a:t>
            </a:r>
            <a:r>
              <a:rPr lang="en-IN" sz="2400" dirty="0"/>
              <a:t>₃, and LHA</a:t>
            </a:r>
          </a:p>
        </p:txBody>
      </p:sp>
      <p:pic>
        <p:nvPicPr>
          <p:cNvPr id="6" name="Picture 5">
            <a:extLst>
              <a:ext uri="{FF2B5EF4-FFF2-40B4-BE49-F238E27FC236}">
                <a16:creationId xmlns:a16="http://schemas.microsoft.com/office/drawing/2014/main" id="{EDE59958-B8F3-0135-CF91-DF52E8538798}"/>
              </a:ext>
            </a:extLst>
          </p:cNvPr>
          <p:cNvPicPr>
            <a:picLocks noChangeAspect="1"/>
          </p:cNvPicPr>
          <p:nvPr/>
        </p:nvPicPr>
        <p:blipFill>
          <a:blip r:embed="rId2"/>
          <a:stretch>
            <a:fillRect/>
          </a:stretch>
        </p:blipFill>
        <p:spPr>
          <a:xfrm>
            <a:off x="6774426" y="1827805"/>
            <a:ext cx="2702084" cy="2702084"/>
          </a:xfrm>
          <a:prstGeom prst="rect">
            <a:avLst/>
          </a:prstGeom>
        </p:spPr>
      </p:pic>
      <p:pic>
        <p:nvPicPr>
          <p:cNvPr id="8" name="Picture 7">
            <a:extLst>
              <a:ext uri="{FF2B5EF4-FFF2-40B4-BE49-F238E27FC236}">
                <a16:creationId xmlns:a16="http://schemas.microsoft.com/office/drawing/2014/main" id="{114AA910-3D79-F703-A654-03B45255C2A7}"/>
              </a:ext>
            </a:extLst>
          </p:cNvPr>
          <p:cNvPicPr>
            <a:picLocks noChangeAspect="1"/>
          </p:cNvPicPr>
          <p:nvPr/>
        </p:nvPicPr>
        <p:blipFill>
          <a:blip r:embed="rId3"/>
          <a:stretch>
            <a:fillRect/>
          </a:stretch>
        </p:blipFill>
        <p:spPr>
          <a:xfrm>
            <a:off x="9476510" y="1786897"/>
            <a:ext cx="2624081" cy="2742992"/>
          </a:xfrm>
          <a:prstGeom prst="rect">
            <a:avLst/>
          </a:prstGeom>
        </p:spPr>
      </p:pic>
    </p:spTree>
    <p:extLst>
      <p:ext uri="{BB962C8B-B14F-4D97-AF65-F5344CB8AC3E}">
        <p14:creationId xmlns:p14="http://schemas.microsoft.com/office/powerpoint/2010/main" val="2754760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5706-6D3F-B8AA-FB1F-B7C4E9E56A1A}"/>
              </a:ext>
            </a:extLst>
          </p:cNvPr>
          <p:cNvSpPr>
            <a:spLocks noGrp="1"/>
          </p:cNvSpPr>
          <p:nvPr>
            <p:ph type="title" idx="4294967295"/>
          </p:nvPr>
        </p:nvSpPr>
        <p:spPr>
          <a:xfrm>
            <a:off x="-393291" y="0"/>
            <a:ext cx="12192000" cy="839788"/>
          </a:xfrm>
        </p:spPr>
        <p:txBody>
          <a:bodyPr/>
          <a:lstStyle/>
          <a:p>
            <a:pPr algn="ctr"/>
            <a:r>
              <a:rPr lang="en-IN" dirty="0">
                <a:latin typeface="Algerian" panose="04020705040A02060702" pitchFamily="82" charset="0"/>
              </a:rPr>
              <a:t>CAD MODEL</a:t>
            </a:r>
          </a:p>
        </p:txBody>
      </p:sp>
      <p:sp>
        <p:nvSpPr>
          <p:cNvPr id="3" name="Text Placeholder 2">
            <a:extLst>
              <a:ext uri="{FF2B5EF4-FFF2-40B4-BE49-F238E27FC236}">
                <a16:creationId xmlns:a16="http://schemas.microsoft.com/office/drawing/2014/main" id="{0DC6696F-4260-592E-1458-6C73D40CED17}"/>
              </a:ext>
            </a:extLst>
          </p:cNvPr>
          <p:cNvSpPr>
            <a:spLocks noGrp="1"/>
          </p:cNvSpPr>
          <p:nvPr>
            <p:ph type="body" idx="4294967295"/>
          </p:nvPr>
        </p:nvSpPr>
        <p:spPr>
          <a:xfrm>
            <a:off x="519522" y="849620"/>
            <a:ext cx="4938713" cy="356163"/>
          </a:xfrm>
        </p:spPr>
        <p:txBody>
          <a:bodyPr>
            <a:normAutofit lnSpcReduction="10000"/>
          </a:bodyPr>
          <a:lstStyle/>
          <a:p>
            <a:r>
              <a:rPr lang="en-IN" b="1" dirty="0"/>
              <a:t>WITHOUT COATING</a:t>
            </a:r>
          </a:p>
        </p:txBody>
      </p:sp>
      <p:pic>
        <p:nvPicPr>
          <p:cNvPr id="8" name="Content Placeholder 7">
            <a:extLst>
              <a:ext uri="{FF2B5EF4-FFF2-40B4-BE49-F238E27FC236}">
                <a16:creationId xmlns:a16="http://schemas.microsoft.com/office/drawing/2014/main" id="{82AF1605-0766-F1B8-DA21-3EB64FC93827}"/>
              </a:ext>
            </a:extLst>
          </p:cNvPr>
          <p:cNvPicPr>
            <a:picLocks noGrp="1" noChangeAspect="1"/>
          </p:cNvPicPr>
          <p:nvPr>
            <p:ph sz="half" idx="4294967295"/>
          </p:nvPr>
        </p:nvPicPr>
        <p:blipFill>
          <a:blip r:embed="rId2">
            <a:extLst>
              <a:ext uri="{28A0092B-C50C-407E-A947-70E740481C1C}">
                <a14:useLocalDpi xmlns:a14="http://schemas.microsoft.com/office/drawing/2010/main" val="0"/>
              </a:ext>
            </a:extLst>
          </a:blip>
          <a:srcRect l="4823" t="18908" r="49148" b="31413"/>
          <a:stretch>
            <a:fillRect/>
          </a:stretch>
        </p:blipFill>
        <p:spPr>
          <a:xfrm>
            <a:off x="647483" y="1132050"/>
            <a:ext cx="4607730" cy="3054594"/>
          </a:xfrm>
          <a:prstGeom prst="rect">
            <a:avLst/>
          </a:prstGeom>
        </p:spPr>
      </p:pic>
      <p:sp>
        <p:nvSpPr>
          <p:cNvPr id="5" name="Text Placeholder 4">
            <a:extLst>
              <a:ext uri="{FF2B5EF4-FFF2-40B4-BE49-F238E27FC236}">
                <a16:creationId xmlns:a16="http://schemas.microsoft.com/office/drawing/2014/main" id="{DA2F4DD2-0DDC-9DF2-477C-42A8A91B8EDD}"/>
              </a:ext>
            </a:extLst>
          </p:cNvPr>
          <p:cNvSpPr>
            <a:spLocks noGrp="1"/>
          </p:cNvSpPr>
          <p:nvPr>
            <p:ph type="body" sz="quarter" idx="4294967295"/>
          </p:nvPr>
        </p:nvSpPr>
        <p:spPr>
          <a:xfrm>
            <a:off x="6733766" y="849620"/>
            <a:ext cx="4937125" cy="346331"/>
          </a:xfrm>
        </p:spPr>
        <p:txBody>
          <a:bodyPr>
            <a:normAutofit fontScale="92500" lnSpcReduction="10000"/>
          </a:bodyPr>
          <a:lstStyle/>
          <a:p>
            <a:r>
              <a:rPr lang="en-IN" b="1" dirty="0"/>
              <a:t>WITH COATING</a:t>
            </a:r>
          </a:p>
        </p:txBody>
      </p:sp>
      <p:pic>
        <p:nvPicPr>
          <p:cNvPr id="10" name="Content Placeholder 9">
            <a:extLst>
              <a:ext uri="{FF2B5EF4-FFF2-40B4-BE49-F238E27FC236}">
                <a16:creationId xmlns:a16="http://schemas.microsoft.com/office/drawing/2014/main" id="{1F09AB81-90B4-D856-4C30-2F1151FB0504}"/>
              </a:ext>
            </a:extLst>
          </p:cNvPr>
          <p:cNvPicPr>
            <a:picLocks noGrp="1" noChangeAspect="1"/>
          </p:cNvPicPr>
          <p:nvPr>
            <p:ph sz="quarter" idx="4294967295"/>
          </p:nvPr>
        </p:nvPicPr>
        <p:blipFill>
          <a:blip r:embed="rId3">
            <a:extLst>
              <a:ext uri="{28A0092B-C50C-407E-A947-70E740481C1C}">
                <a14:useLocalDpi xmlns:a14="http://schemas.microsoft.com/office/drawing/2010/main" val="0"/>
              </a:ext>
            </a:extLst>
          </a:blip>
          <a:srcRect l="37346" t="22080" r="10487" b="22080"/>
          <a:stretch>
            <a:fillRect/>
          </a:stretch>
        </p:blipFill>
        <p:spPr>
          <a:xfrm>
            <a:off x="6109117" y="1132050"/>
            <a:ext cx="5298848" cy="3140058"/>
          </a:xfrm>
          <a:prstGeom prst="rect">
            <a:avLst/>
          </a:prstGeom>
        </p:spPr>
      </p:pic>
      <p:sp>
        <p:nvSpPr>
          <p:cNvPr id="7" name="TextBox 6">
            <a:extLst>
              <a:ext uri="{FF2B5EF4-FFF2-40B4-BE49-F238E27FC236}">
                <a16:creationId xmlns:a16="http://schemas.microsoft.com/office/drawing/2014/main" id="{003698B4-0DBB-8413-1B1D-5B2C8E407806}"/>
              </a:ext>
            </a:extLst>
          </p:cNvPr>
          <p:cNvSpPr txBox="1"/>
          <p:nvPr/>
        </p:nvSpPr>
        <p:spPr>
          <a:xfrm>
            <a:off x="722542" y="4407700"/>
            <a:ext cx="4532671" cy="923330"/>
          </a:xfrm>
          <a:prstGeom prst="rect">
            <a:avLst/>
          </a:prstGeom>
          <a:noFill/>
        </p:spPr>
        <p:txBody>
          <a:bodyPr wrap="square" rtlCol="0">
            <a:spAutoFit/>
          </a:bodyPr>
          <a:lstStyle/>
          <a:p>
            <a:r>
              <a:rPr lang="en-US" b="1" dirty="0"/>
              <a:t>Blade dimensions:</a:t>
            </a:r>
            <a:br>
              <a:rPr lang="en-US" b="1" dirty="0"/>
            </a:br>
            <a:r>
              <a:rPr lang="en-US" dirty="0"/>
              <a:t>Chord: 39.2 mm</a:t>
            </a:r>
            <a:br>
              <a:rPr lang="en-US" dirty="0"/>
            </a:br>
            <a:r>
              <a:rPr lang="en-US" dirty="0"/>
              <a:t>Height: 33 mm</a:t>
            </a:r>
            <a:endParaRPr lang="en-IN" dirty="0"/>
          </a:p>
        </p:txBody>
      </p:sp>
      <p:sp>
        <p:nvSpPr>
          <p:cNvPr id="9" name="TextBox 8">
            <a:extLst>
              <a:ext uri="{FF2B5EF4-FFF2-40B4-BE49-F238E27FC236}">
                <a16:creationId xmlns:a16="http://schemas.microsoft.com/office/drawing/2014/main" id="{5799681C-31CA-945A-BC64-D64B3038439A}"/>
              </a:ext>
            </a:extLst>
          </p:cNvPr>
          <p:cNvSpPr txBox="1"/>
          <p:nvPr/>
        </p:nvSpPr>
        <p:spPr>
          <a:xfrm>
            <a:off x="6580030" y="4347704"/>
            <a:ext cx="4357021" cy="1754326"/>
          </a:xfrm>
          <a:prstGeom prst="rect">
            <a:avLst/>
          </a:prstGeom>
          <a:noFill/>
        </p:spPr>
        <p:txBody>
          <a:bodyPr wrap="square" rtlCol="0">
            <a:spAutoFit/>
          </a:bodyPr>
          <a:lstStyle/>
          <a:p>
            <a:r>
              <a:rPr lang="en-IN" b="1" dirty="0"/>
              <a:t>Blade dimensions:</a:t>
            </a:r>
            <a:br>
              <a:rPr lang="en-IN" dirty="0"/>
            </a:br>
            <a:r>
              <a:rPr lang="en-IN" dirty="0"/>
              <a:t>Chord: 39.2 mm</a:t>
            </a:r>
            <a:br>
              <a:rPr lang="en-IN" dirty="0"/>
            </a:br>
            <a:r>
              <a:rPr lang="en-IN" dirty="0"/>
              <a:t>Height: 33 mm</a:t>
            </a:r>
          </a:p>
          <a:p>
            <a:r>
              <a:rPr lang="en-US" dirty="0"/>
              <a:t>With coating (1.8 mm) Thickness </a:t>
            </a:r>
            <a:br>
              <a:rPr lang="en-IN" dirty="0"/>
            </a:br>
            <a:br>
              <a:rPr lang="en-IN" dirty="0"/>
            </a:br>
            <a:endParaRPr lang="en-IN" dirty="0"/>
          </a:p>
        </p:txBody>
      </p:sp>
      <p:cxnSp>
        <p:nvCxnSpPr>
          <p:cNvPr id="11" name="Straight Arrow Connector 10">
            <a:extLst>
              <a:ext uri="{FF2B5EF4-FFF2-40B4-BE49-F238E27FC236}">
                <a16:creationId xmlns:a16="http://schemas.microsoft.com/office/drawing/2014/main" id="{6DAC5629-871D-765B-3F5B-007F657ACB10}"/>
              </a:ext>
            </a:extLst>
          </p:cNvPr>
          <p:cNvCxnSpPr>
            <a:cxnSpLocks/>
          </p:cNvCxnSpPr>
          <p:nvPr/>
        </p:nvCxnSpPr>
        <p:spPr>
          <a:xfrm>
            <a:off x="3889209" y="755970"/>
            <a:ext cx="321079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2618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2A75F-B094-CD93-2E7A-8C07B121E323}"/>
              </a:ext>
            </a:extLst>
          </p:cNvPr>
          <p:cNvSpPr>
            <a:spLocks noGrp="1"/>
          </p:cNvSpPr>
          <p:nvPr>
            <p:ph type="title" idx="4294967295"/>
          </p:nvPr>
        </p:nvSpPr>
        <p:spPr>
          <a:xfrm>
            <a:off x="1314394" y="207547"/>
            <a:ext cx="10058400" cy="739198"/>
          </a:xfrm>
        </p:spPr>
        <p:txBody>
          <a:bodyPr/>
          <a:lstStyle/>
          <a:p>
            <a:pPr algn="ctr"/>
            <a:r>
              <a:rPr lang="en-IN" dirty="0">
                <a:latin typeface="Algerian" panose="04020705040A02060702" pitchFamily="82" charset="0"/>
              </a:rPr>
              <a:t>Steps Completed..</a:t>
            </a:r>
          </a:p>
        </p:txBody>
      </p:sp>
      <p:sp>
        <p:nvSpPr>
          <p:cNvPr id="3" name="TextBox 2">
            <a:extLst>
              <a:ext uri="{FF2B5EF4-FFF2-40B4-BE49-F238E27FC236}">
                <a16:creationId xmlns:a16="http://schemas.microsoft.com/office/drawing/2014/main" id="{AEC2F7C8-5B7D-D066-9259-61EC82E1F48A}"/>
              </a:ext>
            </a:extLst>
          </p:cNvPr>
          <p:cNvSpPr txBox="1"/>
          <p:nvPr/>
        </p:nvSpPr>
        <p:spPr>
          <a:xfrm>
            <a:off x="1010756" y="1639528"/>
            <a:ext cx="10170488" cy="3416320"/>
          </a:xfrm>
          <a:prstGeom prst="rect">
            <a:avLst/>
          </a:prstGeom>
          <a:noFill/>
        </p:spPr>
        <p:txBody>
          <a:bodyPr wrap="square" rtlCol="0">
            <a:spAutoFit/>
          </a:bodyPr>
          <a:lstStyle/>
          <a:p>
            <a:pPr marL="285750" indent="-285750">
              <a:buFont typeface="Arial" panose="020B0604020202020204" pitchFamily="34" charset="0"/>
              <a:buChar char="•"/>
            </a:pPr>
            <a:r>
              <a:rPr lang="en-IN" sz="2400" b="1" dirty="0"/>
              <a:t>Mesh analysis </a:t>
            </a:r>
          </a:p>
          <a:p>
            <a:pPr marL="342900" indent="-342900" algn="ctr">
              <a:buFont typeface="Arial" panose="020B0604020202020204" pitchFamily="34" charset="0"/>
              <a:buChar char="•"/>
            </a:pPr>
            <a:r>
              <a:rPr lang="en-US" sz="2400" dirty="0"/>
              <a:t>The CAD model is divided into small elements (mesh)</a:t>
            </a:r>
          </a:p>
          <a:p>
            <a:pPr marL="342900" indent="-342900" algn="ctr">
              <a:buFont typeface="Arial" panose="020B0604020202020204" pitchFamily="34" charset="0"/>
              <a:buChar char="•"/>
            </a:pPr>
            <a:r>
              <a:rPr lang="en-US" sz="2400" dirty="0"/>
              <a:t>Mesh helps in accurate numerical analysis</a:t>
            </a:r>
            <a:endParaRPr lang="en-IN" sz="2400" dirty="0"/>
          </a:p>
          <a:p>
            <a:pPr marL="285750" indent="-285750">
              <a:buFont typeface="Arial" panose="020B0604020202020204" pitchFamily="34" charset="0"/>
              <a:buChar char="•"/>
            </a:pPr>
            <a:r>
              <a:rPr lang="en-IN" sz="2400" b="1" dirty="0"/>
              <a:t>Thermal analysis</a:t>
            </a:r>
          </a:p>
          <a:p>
            <a:pPr marL="342900" indent="-342900" algn="ctr">
              <a:buFont typeface="Arial" panose="020B0604020202020204" pitchFamily="34" charset="0"/>
              <a:buChar char="•"/>
            </a:pPr>
            <a:r>
              <a:rPr lang="en-US" sz="2400" dirty="0"/>
              <a:t>Used to find temperature distribution in blade.</a:t>
            </a:r>
          </a:p>
          <a:p>
            <a:pPr marL="342900" indent="-342900">
              <a:buFont typeface="Arial" panose="020B0604020202020204" pitchFamily="34" charset="0"/>
              <a:buChar char="•"/>
            </a:pPr>
            <a:r>
              <a:rPr lang="en-US" sz="2400" b="1" dirty="0"/>
              <a:t>Structural Analysis </a:t>
            </a:r>
          </a:p>
          <a:p>
            <a:pPr algn="ctr"/>
            <a:r>
              <a:rPr lang="en-US" sz="2400" dirty="0"/>
              <a:t>                         Ensures real-world loads, stresses, and thermal effects without failure, while optimizing safety, performance, and material usage</a:t>
            </a:r>
          </a:p>
          <a:p>
            <a:pPr algn="ctr"/>
            <a:endParaRPr lang="en-US" sz="2400" dirty="0"/>
          </a:p>
        </p:txBody>
      </p:sp>
    </p:spTree>
    <p:extLst>
      <p:ext uri="{BB962C8B-B14F-4D97-AF65-F5344CB8AC3E}">
        <p14:creationId xmlns:p14="http://schemas.microsoft.com/office/powerpoint/2010/main" val="4083182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CD39D-0F03-E7D1-5C96-C01F28815E74}"/>
              </a:ext>
            </a:extLst>
          </p:cNvPr>
          <p:cNvSpPr>
            <a:spLocks noGrp="1"/>
          </p:cNvSpPr>
          <p:nvPr>
            <p:ph type="title" idx="4294967295"/>
          </p:nvPr>
        </p:nvSpPr>
        <p:spPr>
          <a:xfrm>
            <a:off x="186813" y="110031"/>
            <a:ext cx="12005187" cy="747713"/>
          </a:xfrm>
        </p:spPr>
        <p:txBody>
          <a:bodyPr/>
          <a:lstStyle/>
          <a:p>
            <a:pPr algn="ctr"/>
            <a:r>
              <a:rPr lang="en-IN" dirty="0">
                <a:latin typeface="Algerian" panose="04020705040A02060702" pitchFamily="82" charset="0"/>
              </a:rPr>
              <a:t>Mesh Analysis </a:t>
            </a:r>
          </a:p>
        </p:txBody>
      </p:sp>
      <p:sp>
        <p:nvSpPr>
          <p:cNvPr id="3" name="Content Placeholder 2">
            <a:extLst>
              <a:ext uri="{FF2B5EF4-FFF2-40B4-BE49-F238E27FC236}">
                <a16:creationId xmlns:a16="http://schemas.microsoft.com/office/drawing/2014/main" id="{C92C52F8-359D-86B0-2848-D7C17349FFAE}"/>
              </a:ext>
            </a:extLst>
          </p:cNvPr>
          <p:cNvSpPr>
            <a:spLocks noGrp="1"/>
          </p:cNvSpPr>
          <p:nvPr>
            <p:ph sz="half" idx="4294967295"/>
          </p:nvPr>
        </p:nvSpPr>
        <p:spPr>
          <a:xfrm>
            <a:off x="599646" y="684634"/>
            <a:ext cx="4938713" cy="346219"/>
          </a:xfrm>
        </p:spPr>
        <p:txBody>
          <a:bodyPr>
            <a:normAutofit lnSpcReduction="10000"/>
          </a:bodyPr>
          <a:lstStyle/>
          <a:p>
            <a:r>
              <a:rPr lang="en-IN" b="1" dirty="0"/>
              <a:t>Without Coating</a:t>
            </a:r>
          </a:p>
        </p:txBody>
      </p:sp>
      <p:sp>
        <p:nvSpPr>
          <p:cNvPr id="4" name="Content Placeholder 3">
            <a:extLst>
              <a:ext uri="{FF2B5EF4-FFF2-40B4-BE49-F238E27FC236}">
                <a16:creationId xmlns:a16="http://schemas.microsoft.com/office/drawing/2014/main" id="{79F7EF72-CF0F-1A14-A230-8A0357E09061}"/>
              </a:ext>
            </a:extLst>
          </p:cNvPr>
          <p:cNvSpPr>
            <a:spLocks noGrp="1"/>
          </p:cNvSpPr>
          <p:nvPr>
            <p:ph sz="half" idx="4294967295"/>
          </p:nvPr>
        </p:nvSpPr>
        <p:spPr>
          <a:xfrm>
            <a:off x="6579466" y="781580"/>
            <a:ext cx="4937125" cy="325437"/>
          </a:xfrm>
        </p:spPr>
        <p:txBody>
          <a:bodyPr>
            <a:normAutofit fontScale="92500" lnSpcReduction="20000"/>
          </a:bodyPr>
          <a:lstStyle/>
          <a:p>
            <a:r>
              <a:rPr lang="en-IN" b="1" dirty="0"/>
              <a:t>With coating</a:t>
            </a:r>
          </a:p>
        </p:txBody>
      </p:sp>
      <p:pic>
        <p:nvPicPr>
          <p:cNvPr id="6" name="Picture 5">
            <a:extLst>
              <a:ext uri="{FF2B5EF4-FFF2-40B4-BE49-F238E27FC236}">
                <a16:creationId xmlns:a16="http://schemas.microsoft.com/office/drawing/2014/main" id="{6A841C36-1A9D-D9AB-1E4A-ACF88F245D28}"/>
              </a:ext>
            </a:extLst>
          </p:cNvPr>
          <p:cNvPicPr>
            <a:picLocks noChangeAspect="1"/>
          </p:cNvPicPr>
          <p:nvPr/>
        </p:nvPicPr>
        <p:blipFill>
          <a:blip r:embed="rId2">
            <a:extLst>
              <a:ext uri="{28A0092B-C50C-407E-A947-70E740481C1C}">
                <a14:useLocalDpi xmlns:a14="http://schemas.microsoft.com/office/drawing/2010/main" val="0"/>
              </a:ext>
            </a:extLst>
          </a:blip>
          <a:srcRect l="34959" t="20359" r="-333" b="24111"/>
          <a:stretch>
            <a:fillRect/>
          </a:stretch>
        </p:blipFill>
        <p:spPr>
          <a:xfrm>
            <a:off x="599646" y="1107018"/>
            <a:ext cx="4346427" cy="2239194"/>
          </a:xfrm>
          <a:prstGeom prst="rect">
            <a:avLst/>
          </a:prstGeom>
        </p:spPr>
      </p:pic>
      <p:pic>
        <p:nvPicPr>
          <p:cNvPr id="8" name="Picture 7">
            <a:extLst>
              <a:ext uri="{FF2B5EF4-FFF2-40B4-BE49-F238E27FC236}">
                <a16:creationId xmlns:a16="http://schemas.microsoft.com/office/drawing/2014/main" id="{34BA41AD-1131-F5C0-4B98-322345EBBB23}"/>
              </a:ext>
            </a:extLst>
          </p:cNvPr>
          <p:cNvPicPr>
            <a:picLocks noChangeAspect="1"/>
          </p:cNvPicPr>
          <p:nvPr/>
        </p:nvPicPr>
        <p:blipFill>
          <a:blip r:embed="rId3">
            <a:extLst>
              <a:ext uri="{28A0092B-C50C-407E-A947-70E740481C1C}">
                <a14:useLocalDpi xmlns:a14="http://schemas.microsoft.com/office/drawing/2010/main" val="0"/>
              </a:ext>
            </a:extLst>
          </a:blip>
          <a:srcRect l="37177" t="20548" b="22765"/>
          <a:stretch>
            <a:fillRect/>
          </a:stretch>
        </p:blipFill>
        <p:spPr>
          <a:xfrm>
            <a:off x="6579466" y="1030853"/>
            <a:ext cx="4584714" cy="2195754"/>
          </a:xfrm>
          <a:prstGeom prst="rect">
            <a:avLst/>
          </a:prstGeom>
        </p:spPr>
      </p:pic>
      <p:sp>
        <p:nvSpPr>
          <p:cNvPr id="7" name="TextBox 6">
            <a:extLst>
              <a:ext uri="{FF2B5EF4-FFF2-40B4-BE49-F238E27FC236}">
                <a16:creationId xmlns:a16="http://schemas.microsoft.com/office/drawing/2014/main" id="{119E418B-D61F-C670-9002-FE2426AAA8E9}"/>
              </a:ext>
            </a:extLst>
          </p:cNvPr>
          <p:cNvSpPr txBox="1"/>
          <p:nvPr/>
        </p:nvSpPr>
        <p:spPr>
          <a:xfrm>
            <a:off x="6096000" y="3522772"/>
            <a:ext cx="6096000"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Finer mesh near coating region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Captures interface behavior between coating and</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substrate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Nodes : 2146</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 Elements : 344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C7348686-4C79-2034-456A-89F0778061A0}"/>
              </a:ext>
            </a:extLst>
          </p:cNvPr>
          <p:cNvSpPr txBox="1"/>
          <p:nvPr/>
        </p:nvSpPr>
        <p:spPr>
          <a:xfrm>
            <a:off x="599646" y="3647463"/>
            <a:ext cx="4690109"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 Uniform mesh applied on blade geometry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Moderate element size used for faster computation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Nodes : 2555</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 Elements : 429</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44837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FE793-F74E-F4C3-8CFF-2D822C893F7E}"/>
              </a:ext>
            </a:extLst>
          </p:cNvPr>
          <p:cNvSpPr>
            <a:spLocks noGrp="1"/>
          </p:cNvSpPr>
          <p:nvPr>
            <p:ph type="title" idx="4294967295"/>
          </p:nvPr>
        </p:nvSpPr>
        <p:spPr>
          <a:xfrm>
            <a:off x="782781" y="0"/>
            <a:ext cx="10058400" cy="736600"/>
          </a:xfrm>
        </p:spPr>
        <p:txBody>
          <a:bodyPr/>
          <a:lstStyle/>
          <a:p>
            <a:pPr algn="ctr"/>
            <a:r>
              <a:rPr lang="en-IN" dirty="0">
                <a:latin typeface="Algerian" panose="04020705040A02060702" pitchFamily="82" charset="0"/>
              </a:rPr>
              <a:t>Thermal Analysis</a:t>
            </a:r>
          </a:p>
        </p:txBody>
      </p:sp>
      <p:sp>
        <p:nvSpPr>
          <p:cNvPr id="3" name="Text Placeholder 2">
            <a:extLst>
              <a:ext uri="{FF2B5EF4-FFF2-40B4-BE49-F238E27FC236}">
                <a16:creationId xmlns:a16="http://schemas.microsoft.com/office/drawing/2014/main" id="{38AE1EF3-291C-6C3C-03A7-C4DEEC154B54}"/>
              </a:ext>
            </a:extLst>
          </p:cNvPr>
          <p:cNvSpPr>
            <a:spLocks noGrp="1"/>
          </p:cNvSpPr>
          <p:nvPr>
            <p:ph type="body" idx="4294967295"/>
          </p:nvPr>
        </p:nvSpPr>
        <p:spPr>
          <a:xfrm>
            <a:off x="961446" y="738453"/>
            <a:ext cx="4938713" cy="325437"/>
          </a:xfrm>
        </p:spPr>
        <p:txBody>
          <a:bodyPr>
            <a:normAutofit fontScale="92500" lnSpcReduction="20000"/>
          </a:bodyPr>
          <a:lstStyle/>
          <a:p>
            <a:r>
              <a:rPr lang="en-IN" b="1" dirty="0"/>
              <a:t>Without coating</a:t>
            </a:r>
          </a:p>
        </p:txBody>
      </p:sp>
      <p:pic>
        <p:nvPicPr>
          <p:cNvPr id="8" name="Content Placeholder 7">
            <a:extLst>
              <a:ext uri="{FF2B5EF4-FFF2-40B4-BE49-F238E27FC236}">
                <a16:creationId xmlns:a16="http://schemas.microsoft.com/office/drawing/2014/main" id="{E609EBD9-F8F0-1473-5C29-83C37EF81029}"/>
              </a:ext>
            </a:extLst>
          </p:cNvPr>
          <p:cNvPicPr>
            <a:picLocks noGrp="1" noChangeAspect="1"/>
          </p:cNvPicPr>
          <p:nvPr>
            <p:ph sz="half" idx="4294967295"/>
          </p:nvPr>
        </p:nvPicPr>
        <p:blipFill>
          <a:blip r:embed="rId2">
            <a:extLst>
              <a:ext uri="{28A0092B-C50C-407E-A947-70E740481C1C}">
                <a14:useLocalDpi xmlns:a14="http://schemas.microsoft.com/office/drawing/2010/main" val="0"/>
              </a:ext>
            </a:extLst>
          </a:blip>
          <a:srcRect l="31176" t="6791" r="19105"/>
          <a:stretch>
            <a:fillRect/>
          </a:stretch>
        </p:blipFill>
        <p:spPr>
          <a:xfrm>
            <a:off x="231502" y="1063890"/>
            <a:ext cx="5326147" cy="3888000"/>
          </a:xfrm>
          <a:prstGeom prst="rect">
            <a:avLst/>
          </a:prstGeom>
        </p:spPr>
      </p:pic>
      <p:sp>
        <p:nvSpPr>
          <p:cNvPr id="5" name="Text Placeholder 4">
            <a:extLst>
              <a:ext uri="{FF2B5EF4-FFF2-40B4-BE49-F238E27FC236}">
                <a16:creationId xmlns:a16="http://schemas.microsoft.com/office/drawing/2014/main" id="{AF1B3BDC-1BA7-F8E3-2B0B-2A7964087774}"/>
              </a:ext>
            </a:extLst>
          </p:cNvPr>
          <p:cNvSpPr>
            <a:spLocks noGrp="1"/>
          </p:cNvSpPr>
          <p:nvPr>
            <p:ph type="body" sz="quarter" idx="4294967295"/>
          </p:nvPr>
        </p:nvSpPr>
        <p:spPr>
          <a:xfrm>
            <a:off x="7050088" y="676131"/>
            <a:ext cx="4937125" cy="356610"/>
          </a:xfrm>
        </p:spPr>
        <p:txBody>
          <a:bodyPr>
            <a:normAutofit lnSpcReduction="10000"/>
          </a:bodyPr>
          <a:lstStyle/>
          <a:p>
            <a:r>
              <a:rPr lang="en-IN" b="1" dirty="0"/>
              <a:t>With coating</a:t>
            </a:r>
          </a:p>
        </p:txBody>
      </p:sp>
      <p:pic>
        <p:nvPicPr>
          <p:cNvPr id="10" name="Content Placeholder 9">
            <a:extLst>
              <a:ext uri="{FF2B5EF4-FFF2-40B4-BE49-F238E27FC236}">
                <a16:creationId xmlns:a16="http://schemas.microsoft.com/office/drawing/2014/main" id="{7556B79C-85E8-3F5A-F488-BB1AD2EE95E1}"/>
              </a:ext>
            </a:extLst>
          </p:cNvPr>
          <p:cNvPicPr>
            <a:picLocks noGrp="1" noChangeAspect="1"/>
          </p:cNvPicPr>
          <p:nvPr>
            <p:ph sz="quarter" idx="4294967295"/>
          </p:nvPr>
        </p:nvPicPr>
        <p:blipFill>
          <a:blip r:embed="rId3">
            <a:extLst>
              <a:ext uri="{28A0092B-C50C-407E-A947-70E740481C1C}">
                <a14:useLocalDpi xmlns:a14="http://schemas.microsoft.com/office/drawing/2010/main" val="0"/>
              </a:ext>
            </a:extLst>
          </a:blip>
          <a:srcRect l="24011" t="2536" r="24011" b="4357"/>
          <a:stretch>
            <a:fillRect/>
          </a:stretch>
        </p:blipFill>
        <p:spPr>
          <a:xfrm>
            <a:off x="6101105" y="1063890"/>
            <a:ext cx="5859393" cy="3780000"/>
          </a:xfrm>
          <a:prstGeom prst="rect">
            <a:avLst/>
          </a:prstGeom>
        </p:spPr>
      </p:pic>
      <p:sp>
        <p:nvSpPr>
          <p:cNvPr id="13" name="TextBox 12">
            <a:extLst>
              <a:ext uri="{FF2B5EF4-FFF2-40B4-BE49-F238E27FC236}">
                <a16:creationId xmlns:a16="http://schemas.microsoft.com/office/drawing/2014/main" id="{D9789B41-B676-DC7A-A7A6-20CC53DEFD78}"/>
              </a:ext>
            </a:extLst>
          </p:cNvPr>
          <p:cNvSpPr txBox="1"/>
          <p:nvPr/>
        </p:nvSpPr>
        <p:spPr>
          <a:xfrm>
            <a:off x="231502" y="5035275"/>
            <a:ext cx="6094268" cy="646331"/>
          </a:xfrm>
          <a:prstGeom prst="rect">
            <a:avLst/>
          </a:prstGeom>
          <a:noFill/>
        </p:spPr>
        <p:txBody>
          <a:bodyPr wrap="square">
            <a:spAutoFit/>
          </a:bodyPr>
          <a:lstStyle/>
          <a:p>
            <a:pPr marL="285750" indent="-285750">
              <a:buFont typeface="Arial" panose="020B0604020202020204" pitchFamily="34" charset="0"/>
              <a:buChar char="•"/>
            </a:pPr>
            <a:r>
              <a:rPr lang="en-US" dirty="0"/>
              <a:t>Temperature observed on blade surface</a:t>
            </a:r>
          </a:p>
          <a:p>
            <a:pPr marL="285750" indent="-285750">
              <a:buFont typeface="Arial" panose="020B0604020202020204" pitchFamily="34" charset="0"/>
              <a:buChar char="•"/>
            </a:pPr>
            <a:r>
              <a:rPr lang="en-US" dirty="0"/>
              <a:t>Heat penetrates directly into base material</a:t>
            </a:r>
            <a:endParaRPr lang="en-IN" dirty="0"/>
          </a:p>
        </p:txBody>
      </p:sp>
      <p:sp>
        <p:nvSpPr>
          <p:cNvPr id="14" name="TextBox 13">
            <a:extLst>
              <a:ext uri="{FF2B5EF4-FFF2-40B4-BE49-F238E27FC236}">
                <a16:creationId xmlns:a16="http://schemas.microsoft.com/office/drawing/2014/main" id="{DBBB2F65-455F-748C-1F63-F36416E5CEB8}"/>
              </a:ext>
            </a:extLst>
          </p:cNvPr>
          <p:cNvSpPr txBox="1"/>
          <p:nvPr/>
        </p:nvSpPr>
        <p:spPr>
          <a:xfrm>
            <a:off x="6792637" y="5035274"/>
            <a:ext cx="6094268" cy="646331"/>
          </a:xfrm>
          <a:prstGeom prst="rect">
            <a:avLst/>
          </a:prstGeom>
          <a:noFill/>
        </p:spPr>
        <p:txBody>
          <a:bodyPr wrap="square">
            <a:spAutoFit/>
          </a:bodyPr>
          <a:lstStyle/>
          <a:p>
            <a:pPr marL="285750" indent="-285750">
              <a:buFont typeface="Arial" panose="020B0604020202020204" pitchFamily="34" charset="0"/>
              <a:buChar char="•"/>
            </a:pPr>
            <a:r>
              <a:rPr lang="en-US" dirty="0"/>
              <a:t>Reduced temperature inside blade</a:t>
            </a:r>
          </a:p>
          <a:p>
            <a:pPr marL="285750" indent="-285750">
              <a:buFont typeface="Arial" panose="020B0604020202020204" pitchFamily="34" charset="0"/>
              <a:buChar char="•"/>
            </a:pPr>
            <a:r>
              <a:rPr lang="en-US" dirty="0"/>
              <a:t>Coating acts as thermal barrier</a:t>
            </a:r>
            <a:endParaRPr lang="en-IN" dirty="0"/>
          </a:p>
        </p:txBody>
      </p:sp>
      <p:sp>
        <p:nvSpPr>
          <p:cNvPr id="16" name="TextBox 15">
            <a:extLst>
              <a:ext uri="{FF2B5EF4-FFF2-40B4-BE49-F238E27FC236}">
                <a16:creationId xmlns:a16="http://schemas.microsoft.com/office/drawing/2014/main" id="{188E4D55-C0B7-8D8E-62FD-7EF62BA7C6AE}"/>
              </a:ext>
            </a:extLst>
          </p:cNvPr>
          <p:cNvSpPr txBox="1"/>
          <p:nvPr/>
        </p:nvSpPr>
        <p:spPr>
          <a:xfrm>
            <a:off x="2140635" y="5750215"/>
            <a:ext cx="7342691" cy="369332"/>
          </a:xfrm>
          <a:prstGeom prst="rect">
            <a:avLst/>
          </a:prstGeom>
          <a:noFill/>
        </p:spPr>
        <p:txBody>
          <a:bodyPr wrap="square">
            <a:spAutoFit/>
          </a:bodyPr>
          <a:lstStyle/>
          <a:p>
            <a:r>
              <a:rPr lang="en-US" b="1" dirty="0">
                <a:solidFill>
                  <a:srgbClr val="FF0000"/>
                </a:solidFill>
              </a:rPr>
              <a:t>Thermal barrier coating improves heat resistance and protects substrate</a:t>
            </a:r>
            <a:endParaRPr lang="en-IN" b="1" dirty="0">
              <a:solidFill>
                <a:srgbClr val="FF0000"/>
              </a:solidFill>
            </a:endParaRPr>
          </a:p>
        </p:txBody>
      </p:sp>
    </p:spTree>
    <p:extLst>
      <p:ext uri="{BB962C8B-B14F-4D97-AF65-F5344CB8AC3E}">
        <p14:creationId xmlns:p14="http://schemas.microsoft.com/office/powerpoint/2010/main" val="2753212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file 2">
            <a:hlinkClick r:id="" action="ppaction://media"/>
            <a:extLst>
              <a:ext uri="{FF2B5EF4-FFF2-40B4-BE49-F238E27FC236}">
                <a16:creationId xmlns:a16="http://schemas.microsoft.com/office/drawing/2014/main" id="{0C457B35-32B8-EF47-B6D3-0F939AF6A7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44538" y="3429000"/>
            <a:ext cx="7856743" cy="2801526"/>
          </a:xfrm>
          <a:prstGeom prst="rect">
            <a:avLst/>
          </a:prstGeom>
        </p:spPr>
      </p:pic>
      <p:sp>
        <p:nvSpPr>
          <p:cNvPr id="4" name="Title 1">
            <a:extLst>
              <a:ext uri="{FF2B5EF4-FFF2-40B4-BE49-F238E27FC236}">
                <a16:creationId xmlns:a16="http://schemas.microsoft.com/office/drawing/2014/main" id="{19599DB9-7FFC-26DA-D620-B20971CE8800}"/>
              </a:ext>
            </a:extLst>
          </p:cNvPr>
          <p:cNvSpPr txBox="1">
            <a:spLocks/>
          </p:cNvSpPr>
          <p:nvPr/>
        </p:nvSpPr>
        <p:spPr>
          <a:xfrm>
            <a:off x="2524990" y="9685"/>
            <a:ext cx="9804661" cy="736600"/>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IN" dirty="0">
                <a:latin typeface="Algerian" panose="04020705040A02060702" pitchFamily="82" charset="0"/>
              </a:rPr>
              <a:t>Thermal Analysis </a:t>
            </a:r>
            <a:r>
              <a:rPr lang="en-IN" sz="2600" dirty="0">
                <a:solidFill>
                  <a:srgbClr val="FFC000"/>
                </a:solidFill>
                <a:latin typeface="Artifakt Element" panose="020B0503050000020004" pitchFamily="34" charset="0"/>
                <a:ea typeface="Artifakt Element" panose="020B0503050000020004" pitchFamily="34" charset="0"/>
              </a:rPr>
              <a:t>(Visual Representation)</a:t>
            </a:r>
          </a:p>
        </p:txBody>
      </p:sp>
      <p:sp>
        <p:nvSpPr>
          <p:cNvPr id="6" name="TextBox 5">
            <a:extLst>
              <a:ext uri="{FF2B5EF4-FFF2-40B4-BE49-F238E27FC236}">
                <a16:creationId xmlns:a16="http://schemas.microsoft.com/office/drawing/2014/main" id="{D27BB5EF-E0BD-9882-BAF0-B4082F902C91}"/>
              </a:ext>
            </a:extLst>
          </p:cNvPr>
          <p:cNvSpPr txBox="1"/>
          <p:nvPr/>
        </p:nvSpPr>
        <p:spPr>
          <a:xfrm>
            <a:off x="970629" y="851617"/>
            <a:ext cx="6094268" cy="369332"/>
          </a:xfrm>
          <a:prstGeom prst="rect">
            <a:avLst/>
          </a:prstGeom>
          <a:noFill/>
        </p:spPr>
        <p:txBody>
          <a:bodyPr wrap="square">
            <a:spAutoFit/>
          </a:bodyPr>
          <a:lstStyle/>
          <a:p>
            <a:r>
              <a:rPr lang="en-IN" b="1" dirty="0"/>
              <a:t>Without Coating</a:t>
            </a:r>
            <a:endParaRPr lang="en-IN" dirty="0"/>
          </a:p>
        </p:txBody>
      </p:sp>
      <p:sp>
        <p:nvSpPr>
          <p:cNvPr id="8" name="TextBox 7">
            <a:extLst>
              <a:ext uri="{FF2B5EF4-FFF2-40B4-BE49-F238E27FC236}">
                <a16:creationId xmlns:a16="http://schemas.microsoft.com/office/drawing/2014/main" id="{4F9AC759-7E2E-8950-E389-4CAC3F521F27}"/>
              </a:ext>
            </a:extLst>
          </p:cNvPr>
          <p:cNvSpPr txBox="1"/>
          <p:nvPr/>
        </p:nvSpPr>
        <p:spPr>
          <a:xfrm>
            <a:off x="9281652" y="4271495"/>
            <a:ext cx="6096000" cy="369332"/>
          </a:xfrm>
          <a:prstGeom prst="rect">
            <a:avLst/>
          </a:prstGeom>
          <a:noFill/>
        </p:spPr>
        <p:txBody>
          <a:bodyPr wrap="square">
            <a:spAutoFit/>
          </a:bodyPr>
          <a:lstStyle/>
          <a:p>
            <a:r>
              <a:rPr lang="en-IN" b="1" dirty="0"/>
              <a:t>With Coating</a:t>
            </a:r>
            <a:endParaRPr lang="en-IN" dirty="0"/>
          </a:p>
        </p:txBody>
      </p:sp>
      <p:sp>
        <p:nvSpPr>
          <p:cNvPr id="9" name="Arrow: Right 8">
            <a:extLst>
              <a:ext uri="{FF2B5EF4-FFF2-40B4-BE49-F238E27FC236}">
                <a16:creationId xmlns:a16="http://schemas.microsoft.com/office/drawing/2014/main" id="{F268E119-796C-3D59-8D1B-E1C942821497}"/>
              </a:ext>
            </a:extLst>
          </p:cNvPr>
          <p:cNvSpPr/>
          <p:nvPr/>
        </p:nvSpPr>
        <p:spPr>
          <a:xfrm rot="10800000">
            <a:off x="8691716" y="4296697"/>
            <a:ext cx="589936" cy="3441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Right 9">
            <a:extLst>
              <a:ext uri="{FF2B5EF4-FFF2-40B4-BE49-F238E27FC236}">
                <a16:creationId xmlns:a16="http://schemas.microsoft.com/office/drawing/2014/main" id="{983F6BB1-F407-976C-C922-75D1B3FFFDC4}"/>
              </a:ext>
            </a:extLst>
          </p:cNvPr>
          <p:cNvSpPr/>
          <p:nvPr/>
        </p:nvSpPr>
        <p:spPr>
          <a:xfrm>
            <a:off x="2755597" y="886419"/>
            <a:ext cx="698090"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file">
            <a:hlinkClick r:id="" action="ppaction://media"/>
            <a:extLst>
              <a:ext uri="{FF2B5EF4-FFF2-40B4-BE49-F238E27FC236}">
                <a16:creationId xmlns:a16="http://schemas.microsoft.com/office/drawing/2014/main" id="{C2DCE54D-A034-F397-2644-E71D5D093D8A}"/>
              </a:ext>
            </a:extLst>
          </p:cNvPr>
          <p:cNvPicPr>
            <a:picLocks noChangeAspect="1"/>
          </p:cNvPicPr>
          <p:nvPr>
            <a:videoFile r:link="rId4"/>
            <p:extLst>
              <p:ext uri="{DAA4B4D4-6D71-4841-9C94-3DE7FCFB9230}">
                <p14:media xmlns:p14="http://schemas.microsoft.com/office/powerpoint/2010/main" r:embed="rId3"/>
              </p:ext>
            </p:extLst>
          </p:nvPr>
        </p:nvPicPr>
        <p:blipFill>
          <a:blip r:embed="rId7"/>
          <a:srcRect l="8184" t="12597" r="32486" b="11734"/>
          <a:stretch>
            <a:fillRect/>
          </a:stretch>
        </p:blipFill>
        <p:spPr>
          <a:xfrm>
            <a:off x="4332470" y="789711"/>
            <a:ext cx="7659170" cy="3262744"/>
          </a:xfrm>
          <a:prstGeom prst="rect">
            <a:avLst/>
          </a:prstGeom>
        </p:spPr>
      </p:pic>
    </p:spTree>
    <p:extLst>
      <p:ext uri="{BB962C8B-B14F-4D97-AF65-F5344CB8AC3E}">
        <p14:creationId xmlns:p14="http://schemas.microsoft.com/office/powerpoint/2010/main" val="3751347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79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233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seq concurrent="1" nextAc="seek">
              <p:cTn id="12" restart="whenNotActive" fill="hold" evtFilter="cancelBubble" nodeType="interactiveSeq">
                <p:stCondLst>
                  <p:cond evt="onClick" delay="0">
                    <p:tgtEl>
                      <p:spTgt spid="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
                                        </p:tgtEl>
                                      </p:cBhvr>
                                    </p:cmd>
                                  </p:childTnLst>
                                </p:cTn>
                              </p:par>
                            </p:childTnLst>
                          </p:cTn>
                        </p:par>
                      </p:childTnLst>
                    </p:cTn>
                  </p:par>
                </p:childTnLst>
              </p:cTn>
              <p:nextCondLst>
                <p:cond evt="onClick" delay="0">
                  <p:tgtEl>
                    <p:spTgt spid="2"/>
                  </p:tgtEl>
                </p:cond>
              </p:nextCondLst>
            </p:seq>
            <p:video>
              <p:cMediaNode vol="80000">
                <p:cTn id="17" fill="hold" display="0">
                  <p:stCondLst>
                    <p:cond delay="indefinite"/>
                  </p:stCondLst>
                </p:cTn>
                <p:tgtEl>
                  <p:spTgt spid="3"/>
                </p:tgtEl>
              </p:cMediaNode>
            </p:video>
            <p:seq concurrent="1" nextAc="seek">
              <p:cTn id="18" restart="whenNotActive" fill="hold" evtFilter="cancelBubble" nodeType="interactiveSeq">
                <p:stCondLst>
                  <p:cond evt="onClick" delay="0">
                    <p:tgtEl>
                      <p:spTgt spid="3"/>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89873-03A7-F50D-7590-EE5AD7116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506D2-F22C-D052-DCD6-0B515ACAEBBD}"/>
              </a:ext>
            </a:extLst>
          </p:cNvPr>
          <p:cNvSpPr>
            <a:spLocks noGrp="1"/>
          </p:cNvSpPr>
          <p:nvPr>
            <p:ph type="title" idx="4294967295"/>
          </p:nvPr>
        </p:nvSpPr>
        <p:spPr>
          <a:xfrm>
            <a:off x="782781" y="0"/>
            <a:ext cx="10058400" cy="736600"/>
          </a:xfrm>
        </p:spPr>
        <p:txBody>
          <a:bodyPr/>
          <a:lstStyle/>
          <a:p>
            <a:pPr algn="ctr"/>
            <a:r>
              <a:rPr lang="en-IN" dirty="0">
                <a:latin typeface="Algerian" panose="04020705040A02060702" pitchFamily="82" charset="0"/>
              </a:rPr>
              <a:t>Structural Analysis</a:t>
            </a:r>
          </a:p>
        </p:txBody>
      </p:sp>
      <p:sp>
        <p:nvSpPr>
          <p:cNvPr id="3" name="Text Placeholder 2">
            <a:extLst>
              <a:ext uri="{FF2B5EF4-FFF2-40B4-BE49-F238E27FC236}">
                <a16:creationId xmlns:a16="http://schemas.microsoft.com/office/drawing/2014/main" id="{E5932072-3F90-8168-1239-03694F551DAC}"/>
              </a:ext>
            </a:extLst>
          </p:cNvPr>
          <p:cNvSpPr>
            <a:spLocks noGrp="1"/>
          </p:cNvSpPr>
          <p:nvPr>
            <p:ph type="body" idx="4294967295"/>
          </p:nvPr>
        </p:nvSpPr>
        <p:spPr>
          <a:xfrm>
            <a:off x="-1979748" y="3040906"/>
            <a:ext cx="67821" cy="129126"/>
          </a:xfrm>
        </p:spPr>
        <p:txBody>
          <a:bodyPr>
            <a:normAutofit fontScale="25000" lnSpcReduction="20000"/>
          </a:bodyPr>
          <a:lstStyle/>
          <a:p>
            <a:endParaRPr lang="en-IN" b="1" dirty="0"/>
          </a:p>
        </p:txBody>
      </p:sp>
      <p:pic>
        <p:nvPicPr>
          <p:cNvPr id="6" name="Picture 5">
            <a:extLst>
              <a:ext uri="{FF2B5EF4-FFF2-40B4-BE49-F238E27FC236}">
                <a16:creationId xmlns:a16="http://schemas.microsoft.com/office/drawing/2014/main" id="{5C2EEB24-5A86-266E-6CF8-802A60715B24}"/>
              </a:ext>
            </a:extLst>
          </p:cNvPr>
          <p:cNvPicPr>
            <a:picLocks noChangeAspect="1"/>
          </p:cNvPicPr>
          <p:nvPr/>
        </p:nvPicPr>
        <p:blipFill>
          <a:blip r:embed="rId2">
            <a:extLst>
              <a:ext uri="{28A0092B-C50C-407E-A947-70E740481C1C}">
                <a14:useLocalDpi xmlns:a14="http://schemas.microsoft.com/office/drawing/2010/main" val="0"/>
              </a:ext>
            </a:extLst>
          </a:blip>
          <a:srcRect r="21757" b="30962"/>
          <a:stretch>
            <a:fillRect/>
          </a:stretch>
        </p:blipFill>
        <p:spPr>
          <a:xfrm>
            <a:off x="77107" y="920106"/>
            <a:ext cx="8747326" cy="4005188"/>
          </a:xfrm>
          <a:prstGeom prst="rect">
            <a:avLst/>
          </a:prstGeom>
        </p:spPr>
      </p:pic>
      <p:sp>
        <p:nvSpPr>
          <p:cNvPr id="7" name="Rectangle 1">
            <a:extLst>
              <a:ext uri="{FF2B5EF4-FFF2-40B4-BE49-F238E27FC236}">
                <a16:creationId xmlns:a16="http://schemas.microsoft.com/office/drawing/2014/main" id="{26798CCA-5F72-EA57-D15A-EFC462918A55}"/>
              </a:ext>
            </a:extLst>
          </p:cNvPr>
          <p:cNvSpPr>
            <a:spLocks noGrp="1" noChangeArrowheads="1"/>
          </p:cNvSpPr>
          <p:nvPr>
            <p:ph type="body" sz="quarter" idx="4294967295"/>
          </p:nvPr>
        </p:nvSpPr>
        <p:spPr bwMode="auto">
          <a:xfrm>
            <a:off x="8925792" y="883393"/>
            <a:ext cx="3006436" cy="4315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Higher stress concentration observed near curved/leading edge region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Lower stress towards flat and tip regions.</a:t>
            </a:r>
          </a:p>
          <a:p>
            <a:r>
              <a:rPr lang="en-US" sz="1800" b="1" dirty="0">
                <a:highlight>
                  <a:srgbClr val="FFFF00"/>
                </a:highlight>
              </a:rPr>
              <a:t>• Results:</a:t>
            </a:r>
          </a:p>
          <a:p>
            <a:r>
              <a:rPr lang="en-US" sz="1800" dirty="0">
                <a:solidFill>
                  <a:schemeClr val="tx1">
                    <a:lumMod val="95000"/>
                    <a:lumOff val="5000"/>
                  </a:schemeClr>
                </a:solidFill>
              </a:rPr>
              <a:t>Maximum stress: </a:t>
            </a:r>
            <a:r>
              <a:rPr lang="en-US" sz="1800" b="1" dirty="0">
                <a:solidFill>
                  <a:srgbClr val="FF0000"/>
                </a:solidFill>
              </a:rPr>
              <a:t>1.0879 × 10⁻⁴ Pa</a:t>
            </a:r>
            <a:r>
              <a:rPr lang="en-US" sz="1800" dirty="0">
                <a:solidFill>
                  <a:srgbClr val="FF0000"/>
                </a:solidFill>
              </a:rPr>
              <a:t> </a:t>
            </a:r>
            <a:r>
              <a:rPr lang="en-US" sz="1800" dirty="0">
                <a:solidFill>
                  <a:schemeClr val="tx1">
                    <a:lumMod val="95000"/>
                    <a:lumOff val="5000"/>
                  </a:schemeClr>
                </a:solidFill>
              </a:rPr>
              <a:t>(located near mid-region) </a:t>
            </a:r>
          </a:p>
          <a:p>
            <a:r>
              <a:rPr lang="en-US" sz="1800" dirty="0">
                <a:solidFill>
                  <a:schemeClr val="tx1">
                    <a:lumMod val="95000"/>
                    <a:lumOff val="5000"/>
                  </a:schemeClr>
                </a:solidFill>
              </a:rPr>
              <a:t>Minimum stress: </a:t>
            </a:r>
            <a:r>
              <a:rPr lang="en-US" sz="1800" b="1" dirty="0">
                <a:solidFill>
                  <a:srgbClr val="FF0000"/>
                </a:solidFill>
              </a:rPr>
              <a:t>7.5182×10−14Pa </a:t>
            </a:r>
            <a:r>
              <a:rPr lang="en-US" sz="1800" dirty="0">
                <a:solidFill>
                  <a:schemeClr val="tx1">
                    <a:lumMod val="95000"/>
                    <a:lumOff val="5000"/>
                  </a:schemeClr>
                </a:solidFill>
              </a:rPr>
              <a:t>(towards blade tip)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34A7DDEB-399A-97E3-9520-38663C1FE752}"/>
              </a:ext>
            </a:extLst>
          </p:cNvPr>
          <p:cNvSpPr txBox="1"/>
          <p:nvPr/>
        </p:nvSpPr>
        <p:spPr>
          <a:xfrm>
            <a:off x="1267691" y="5320145"/>
            <a:ext cx="9573490" cy="369332"/>
          </a:xfrm>
          <a:prstGeom prst="rect">
            <a:avLst/>
          </a:prstGeom>
          <a:noFill/>
        </p:spPr>
        <p:txBody>
          <a:bodyPr wrap="square" rtlCol="0">
            <a:spAutoFit/>
          </a:bodyPr>
          <a:lstStyle/>
          <a:p>
            <a:r>
              <a:rPr lang="en-US" dirty="0"/>
              <a:t>The coating helps the turbine blade handle high temperature with lower stress and better durability.</a:t>
            </a:r>
            <a:endParaRPr lang="en-IN" dirty="0"/>
          </a:p>
        </p:txBody>
      </p:sp>
    </p:spTree>
    <p:extLst>
      <p:ext uri="{BB962C8B-B14F-4D97-AF65-F5344CB8AC3E}">
        <p14:creationId xmlns:p14="http://schemas.microsoft.com/office/powerpoint/2010/main" val="2536078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2C23D28-DDA0-D263-87E2-93BAD3AB9579}"/>
              </a:ext>
            </a:extLst>
          </p:cNvPr>
          <p:cNvPicPr>
            <a:picLocks noChangeAspect="1"/>
          </p:cNvPicPr>
          <p:nvPr/>
        </p:nvPicPr>
        <p:blipFill>
          <a:blip r:embed="rId2"/>
          <a:srcRect l="2480" t="6330" r="3445"/>
          <a:stretch>
            <a:fillRect/>
          </a:stretch>
        </p:blipFill>
        <p:spPr>
          <a:xfrm>
            <a:off x="2057400" y="755970"/>
            <a:ext cx="6984000" cy="5213545"/>
          </a:xfrm>
          <a:prstGeom prst="rect">
            <a:avLst/>
          </a:prstGeom>
        </p:spPr>
      </p:pic>
    </p:spTree>
    <p:extLst>
      <p:ext uri="{BB962C8B-B14F-4D97-AF65-F5344CB8AC3E}">
        <p14:creationId xmlns:p14="http://schemas.microsoft.com/office/powerpoint/2010/main" val="650572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A93DE-6E7C-8348-558B-B3CB4633C8DA}"/>
              </a:ext>
            </a:extLst>
          </p:cNvPr>
          <p:cNvSpPr>
            <a:spLocks noGrp="1"/>
          </p:cNvSpPr>
          <p:nvPr>
            <p:ph type="title" idx="4294967295"/>
          </p:nvPr>
        </p:nvSpPr>
        <p:spPr>
          <a:xfrm>
            <a:off x="-157316" y="134650"/>
            <a:ext cx="12654116" cy="749300"/>
          </a:xfrm>
        </p:spPr>
        <p:txBody>
          <a:bodyPr/>
          <a:lstStyle/>
          <a:p>
            <a:pPr algn="ctr"/>
            <a:r>
              <a:rPr lang="en-IN" dirty="0">
                <a:solidFill>
                  <a:srgbClr val="FF0000"/>
                </a:solidFill>
                <a:latin typeface="Algerian" panose="04020705040A02060702" pitchFamily="82" charset="0"/>
              </a:rPr>
              <a:t>Results comparison</a:t>
            </a:r>
          </a:p>
        </p:txBody>
      </p:sp>
      <p:sp>
        <p:nvSpPr>
          <p:cNvPr id="3" name="Content Placeholder 2">
            <a:extLst>
              <a:ext uri="{FF2B5EF4-FFF2-40B4-BE49-F238E27FC236}">
                <a16:creationId xmlns:a16="http://schemas.microsoft.com/office/drawing/2014/main" id="{DB6A847C-DD73-1A97-3BBA-1144B42D1A0E}"/>
              </a:ext>
            </a:extLst>
          </p:cNvPr>
          <p:cNvSpPr>
            <a:spLocks noGrp="1"/>
          </p:cNvSpPr>
          <p:nvPr>
            <p:ph idx="4294967295"/>
          </p:nvPr>
        </p:nvSpPr>
        <p:spPr>
          <a:xfrm>
            <a:off x="12986327" y="1783550"/>
            <a:ext cx="652244" cy="1414975"/>
          </a:xfrm>
        </p:spPr>
        <p:txBody>
          <a:bodyPr/>
          <a:lstStyle/>
          <a:p>
            <a:pPr marL="0" indent="0">
              <a:buNone/>
            </a:pPr>
            <a:endParaRPr lang="en-IN" dirty="0"/>
          </a:p>
        </p:txBody>
      </p:sp>
      <p:graphicFrame>
        <p:nvGraphicFramePr>
          <p:cNvPr id="4" name="Table 3">
            <a:extLst>
              <a:ext uri="{FF2B5EF4-FFF2-40B4-BE49-F238E27FC236}">
                <a16:creationId xmlns:a16="http://schemas.microsoft.com/office/drawing/2014/main" id="{9CF3C834-0109-C4B3-7114-DFF55F1648C3}"/>
              </a:ext>
            </a:extLst>
          </p:cNvPr>
          <p:cNvGraphicFramePr>
            <a:graphicFrameLocks noGrp="1"/>
          </p:cNvGraphicFramePr>
          <p:nvPr>
            <p:extLst>
              <p:ext uri="{D42A27DB-BD31-4B8C-83A1-F6EECF244321}">
                <p14:modId xmlns:p14="http://schemas.microsoft.com/office/powerpoint/2010/main" val="104216839"/>
              </p:ext>
            </p:extLst>
          </p:nvPr>
        </p:nvGraphicFramePr>
        <p:xfrm>
          <a:off x="552618" y="1147829"/>
          <a:ext cx="10481187" cy="3233335"/>
        </p:xfrm>
        <a:graphic>
          <a:graphicData uri="http://schemas.openxmlformats.org/drawingml/2006/table">
            <a:tbl>
              <a:tblPr firstRow="1" bandRow="1">
                <a:tableStyleId>{5C22544A-7EE6-4342-B048-85BDC9FD1C3A}</a:tableStyleId>
              </a:tblPr>
              <a:tblGrid>
                <a:gridCol w="3493729">
                  <a:extLst>
                    <a:ext uri="{9D8B030D-6E8A-4147-A177-3AD203B41FA5}">
                      <a16:colId xmlns:a16="http://schemas.microsoft.com/office/drawing/2014/main" val="3990725799"/>
                    </a:ext>
                  </a:extLst>
                </a:gridCol>
                <a:gridCol w="3493729">
                  <a:extLst>
                    <a:ext uri="{9D8B030D-6E8A-4147-A177-3AD203B41FA5}">
                      <a16:colId xmlns:a16="http://schemas.microsoft.com/office/drawing/2014/main" val="2403981660"/>
                    </a:ext>
                  </a:extLst>
                </a:gridCol>
                <a:gridCol w="3493729">
                  <a:extLst>
                    <a:ext uri="{9D8B030D-6E8A-4147-A177-3AD203B41FA5}">
                      <a16:colId xmlns:a16="http://schemas.microsoft.com/office/drawing/2014/main" val="3224355294"/>
                    </a:ext>
                  </a:extLst>
                </a:gridCol>
              </a:tblGrid>
              <a:tr h="646667">
                <a:tc>
                  <a:txBody>
                    <a:bodyPr/>
                    <a:lstStyle/>
                    <a:p>
                      <a:pPr algn="ctr"/>
                      <a:r>
                        <a:rPr lang="en-IN" sz="2400" dirty="0">
                          <a:latin typeface="Aptos Narrow" panose="020B0004020202020204" pitchFamily="34" charset="0"/>
                        </a:rPr>
                        <a:t>Parameter</a:t>
                      </a:r>
                    </a:p>
                  </a:txBody>
                  <a:tcPr/>
                </a:tc>
                <a:tc>
                  <a:txBody>
                    <a:bodyPr/>
                    <a:lstStyle/>
                    <a:p>
                      <a:pPr algn="ctr"/>
                      <a:r>
                        <a:rPr lang="en-IN" sz="2400" dirty="0"/>
                        <a:t>Without Coating</a:t>
                      </a:r>
                    </a:p>
                  </a:txBody>
                  <a:tcPr/>
                </a:tc>
                <a:tc>
                  <a:txBody>
                    <a:bodyPr/>
                    <a:lstStyle/>
                    <a:p>
                      <a:pPr algn="ctr"/>
                      <a:r>
                        <a:rPr lang="en-IN" sz="2400" dirty="0"/>
                        <a:t>With Coating</a:t>
                      </a:r>
                    </a:p>
                  </a:txBody>
                  <a:tcPr/>
                </a:tc>
                <a:extLst>
                  <a:ext uri="{0D108BD9-81ED-4DB2-BD59-A6C34878D82A}">
                    <a16:rowId xmlns:a16="http://schemas.microsoft.com/office/drawing/2014/main" val="768882896"/>
                  </a:ext>
                </a:extLst>
              </a:tr>
              <a:tr h="646667">
                <a:tc>
                  <a:txBody>
                    <a:bodyPr/>
                    <a:lstStyle/>
                    <a:p>
                      <a:pPr algn="ctr"/>
                      <a:r>
                        <a:rPr lang="en-IN" dirty="0"/>
                        <a:t>Temperature</a:t>
                      </a:r>
                    </a:p>
                  </a:txBody>
                  <a:tcPr/>
                </a:tc>
                <a:tc>
                  <a:txBody>
                    <a:bodyPr/>
                    <a:lstStyle/>
                    <a:p>
                      <a:pPr algn="ctr"/>
                      <a:r>
                        <a:rPr lang="en-IN" dirty="0"/>
                        <a:t>Higher</a:t>
                      </a:r>
                    </a:p>
                  </a:txBody>
                  <a:tcPr/>
                </a:tc>
                <a:tc>
                  <a:txBody>
                    <a:bodyPr/>
                    <a:lstStyle/>
                    <a:p>
                      <a:pPr algn="ctr"/>
                      <a:r>
                        <a:rPr lang="en-IN" dirty="0"/>
                        <a:t>Lower</a:t>
                      </a:r>
                    </a:p>
                  </a:txBody>
                  <a:tcPr/>
                </a:tc>
                <a:extLst>
                  <a:ext uri="{0D108BD9-81ED-4DB2-BD59-A6C34878D82A}">
                    <a16:rowId xmlns:a16="http://schemas.microsoft.com/office/drawing/2014/main" val="1189838291"/>
                  </a:ext>
                </a:extLst>
              </a:tr>
              <a:tr h="646667">
                <a:tc>
                  <a:txBody>
                    <a:bodyPr/>
                    <a:lstStyle/>
                    <a:p>
                      <a:pPr algn="ctr"/>
                      <a:r>
                        <a:rPr lang="en-IN" dirty="0"/>
                        <a:t>Heat Penetration</a:t>
                      </a:r>
                    </a:p>
                  </a:txBody>
                  <a:tcPr/>
                </a:tc>
                <a:tc>
                  <a:txBody>
                    <a:bodyPr/>
                    <a:lstStyle/>
                    <a:p>
                      <a:pPr algn="ctr"/>
                      <a:r>
                        <a:rPr lang="en-IN" dirty="0"/>
                        <a:t>Direct into blade</a:t>
                      </a:r>
                    </a:p>
                  </a:txBody>
                  <a:tcPr/>
                </a:tc>
                <a:tc>
                  <a:txBody>
                    <a:bodyPr/>
                    <a:lstStyle/>
                    <a:p>
                      <a:pPr algn="ctr"/>
                      <a:r>
                        <a:rPr lang="en-IN" dirty="0"/>
                        <a:t>Reduced</a:t>
                      </a:r>
                    </a:p>
                  </a:txBody>
                  <a:tcPr/>
                </a:tc>
                <a:extLst>
                  <a:ext uri="{0D108BD9-81ED-4DB2-BD59-A6C34878D82A}">
                    <a16:rowId xmlns:a16="http://schemas.microsoft.com/office/drawing/2014/main" val="80742809"/>
                  </a:ext>
                </a:extLst>
              </a:tr>
              <a:tr h="646667">
                <a:tc>
                  <a:txBody>
                    <a:bodyPr/>
                    <a:lstStyle/>
                    <a:p>
                      <a:pPr algn="ctr"/>
                      <a:r>
                        <a:rPr lang="en-IN" dirty="0"/>
                        <a:t>Thermal Protection</a:t>
                      </a:r>
                    </a:p>
                  </a:txBody>
                  <a:tcPr/>
                </a:tc>
                <a:tc>
                  <a:txBody>
                    <a:bodyPr/>
                    <a:lstStyle/>
                    <a:p>
                      <a:pPr algn="ctr"/>
                      <a:r>
                        <a:rPr lang="en-IN" dirty="0"/>
                        <a:t>Poor</a:t>
                      </a:r>
                    </a:p>
                  </a:txBody>
                  <a:tcPr/>
                </a:tc>
                <a:tc>
                  <a:txBody>
                    <a:bodyPr/>
                    <a:lstStyle/>
                    <a:p>
                      <a:pPr algn="ctr"/>
                      <a:r>
                        <a:rPr lang="en-IN" dirty="0"/>
                        <a:t>Excellent</a:t>
                      </a:r>
                    </a:p>
                  </a:txBody>
                  <a:tcPr/>
                </a:tc>
                <a:extLst>
                  <a:ext uri="{0D108BD9-81ED-4DB2-BD59-A6C34878D82A}">
                    <a16:rowId xmlns:a16="http://schemas.microsoft.com/office/drawing/2014/main" val="552073421"/>
                  </a:ext>
                </a:extLst>
              </a:tr>
              <a:tr h="646667">
                <a:tc>
                  <a:txBody>
                    <a:bodyPr/>
                    <a:lstStyle/>
                    <a:p>
                      <a:pPr algn="ctr"/>
                      <a:r>
                        <a:rPr lang="en-IN" dirty="0"/>
                        <a:t>Structural Safety</a:t>
                      </a:r>
                    </a:p>
                  </a:txBody>
                  <a:tcPr/>
                </a:tc>
                <a:tc>
                  <a:txBody>
                    <a:bodyPr/>
                    <a:lstStyle/>
                    <a:p>
                      <a:pPr algn="ctr"/>
                      <a:r>
                        <a:rPr lang="en-IN" dirty="0"/>
                        <a:t>Moderate</a:t>
                      </a:r>
                    </a:p>
                  </a:txBody>
                  <a:tcPr/>
                </a:tc>
                <a:tc>
                  <a:txBody>
                    <a:bodyPr/>
                    <a:lstStyle/>
                    <a:p>
                      <a:pPr algn="ctr"/>
                      <a:r>
                        <a:rPr lang="en-IN" dirty="0"/>
                        <a:t>Improved</a:t>
                      </a:r>
                    </a:p>
                  </a:txBody>
                  <a:tcPr/>
                </a:tc>
                <a:extLst>
                  <a:ext uri="{0D108BD9-81ED-4DB2-BD59-A6C34878D82A}">
                    <a16:rowId xmlns:a16="http://schemas.microsoft.com/office/drawing/2014/main" val="1343824874"/>
                  </a:ext>
                </a:extLst>
              </a:tr>
            </a:tbl>
          </a:graphicData>
        </a:graphic>
      </p:graphicFrame>
      <p:sp>
        <p:nvSpPr>
          <p:cNvPr id="6" name="TextBox 5">
            <a:extLst>
              <a:ext uri="{FF2B5EF4-FFF2-40B4-BE49-F238E27FC236}">
                <a16:creationId xmlns:a16="http://schemas.microsoft.com/office/drawing/2014/main" id="{5BA289F3-58BE-B3F4-32D8-90670B1ED1A8}"/>
              </a:ext>
            </a:extLst>
          </p:cNvPr>
          <p:cNvSpPr txBox="1"/>
          <p:nvPr/>
        </p:nvSpPr>
        <p:spPr>
          <a:xfrm>
            <a:off x="1132609" y="4842164"/>
            <a:ext cx="9341427" cy="646331"/>
          </a:xfrm>
          <a:prstGeom prst="rect">
            <a:avLst/>
          </a:prstGeom>
          <a:noFill/>
        </p:spPr>
        <p:txBody>
          <a:bodyPr wrap="square" rtlCol="0">
            <a:spAutoFit/>
          </a:bodyPr>
          <a:lstStyle/>
          <a:p>
            <a:r>
              <a:rPr lang="en-US" dirty="0"/>
              <a:t>The YSZ coating acts as a thermal barrier, reducing heat transfer into the blade and improving thermal protection and structural stability</a:t>
            </a:r>
            <a:endParaRPr lang="en-IN" dirty="0"/>
          </a:p>
        </p:txBody>
      </p:sp>
    </p:spTree>
    <p:extLst>
      <p:ext uri="{BB962C8B-B14F-4D97-AF65-F5344CB8AC3E}">
        <p14:creationId xmlns:p14="http://schemas.microsoft.com/office/powerpoint/2010/main" val="381122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9DA0A0-F398-8409-307C-33541A1F9970}"/>
              </a:ext>
            </a:extLst>
          </p:cNvPr>
          <p:cNvSpPr txBox="1"/>
          <p:nvPr/>
        </p:nvSpPr>
        <p:spPr>
          <a:xfrm>
            <a:off x="2521527" y="166255"/>
            <a:ext cx="7148946" cy="830997"/>
          </a:xfrm>
          <a:prstGeom prst="rect">
            <a:avLst/>
          </a:prstGeom>
          <a:noFill/>
        </p:spPr>
        <p:txBody>
          <a:bodyPr wrap="square" rtlCol="0">
            <a:spAutoFit/>
          </a:bodyPr>
          <a:lstStyle/>
          <a:p>
            <a:pPr algn="ctr"/>
            <a:r>
              <a:rPr lang="en-IN" sz="4800" dirty="0">
                <a:solidFill>
                  <a:schemeClr val="bg2">
                    <a:lumMod val="10000"/>
                  </a:schemeClr>
                </a:solidFill>
                <a:latin typeface="Algerian" panose="04020705040A02060702" pitchFamily="82" charset="0"/>
              </a:rPr>
              <a:t>Future work</a:t>
            </a:r>
          </a:p>
        </p:txBody>
      </p:sp>
      <p:sp>
        <p:nvSpPr>
          <p:cNvPr id="4" name="TextBox 3">
            <a:extLst>
              <a:ext uri="{FF2B5EF4-FFF2-40B4-BE49-F238E27FC236}">
                <a16:creationId xmlns:a16="http://schemas.microsoft.com/office/drawing/2014/main" id="{E0486E43-9ADB-C897-2A83-50985291A5BA}"/>
              </a:ext>
            </a:extLst>
          </p:cNvPr>
          <p:cNvSpPr txBox="1"/>
          <p:nvPr/>
        </p:nvSpPr>
        <p:spPr>
          <a:xfrm>
            <a:off x="1236518" y="1194955"/>
            <a:ext cx="8925791" cy="2923877"/>
          </a:xfrm>
          <a:prstGeom prst="rect">
            <a:avLst/>
          </a:prstGeom>
          <a:noFill/>
        </p:spPr>
        <p:txBody>
          <a:bodyPr wrap="square" rtlCol="0">
            <a:spAutoFit/>
          </a:bodyPr>
          <a:lstStyle/>
          <a:p>
            <a:r>
              <a:rPr lang="en-US" sz="2000" b="1" dirty="0"/>
              <a:t>Compare different coating materials such as:</a:t>
            </a:r>
          </a:p>
          <a:p>
            <a:pPr marL="285750" indent="-285750">
              <a:buFont typeface="Arial" panose="020B0604020202020204" pitchFamily="34" charset="0"/>
              <a:buChar char="•"/>
            </a:pPr>
            <a:r>
              <a:rPr lang="en-US" dirty="0"/>
              <a:t>YSZ </a:t>
            </a:r>
          </a:p>
          <a:p>
            <a:pPr marL="285750" indent="-285750">
              <a:buFont typeface="Arial" panose="020B0604020202020204" pitchFamily="34" charset="0"/>
              <a:buChar char="•"/>
            </a:pPr>
            <a:r>
              <a:rPr lang="en-US" dirty="0"/>
              <a:t>Alumina </a:t>
            </a:r>
          </a:p>
          <a:p>
            <a:pPr marL="285750" indent="-285750">
              <a:buFont typeface="Arial" panose="020B0604020202020204" pitchFamily="34" charset="0"/>
              <a:buChar char="•"/>
            </a:pPr>
            <a:r>
              <a:rPr lang="en-US" dirty="0"/>
              <a:t>Zirconia-based composites</a:t>
            </a:r>
          </a:p>
          <a:p>
            <a:endParaRPr lang="en-US" dirty="0"/>
          </a:p>
          <a:p>
            <a:r>
              <a:rPr lang="en-US" sz="2000" b="1" dirty="0"/>
              <a:t>Apply the coating concept to:</a:t>
            </a:r>
          </a:p>
          <a:p>
            <a:pPr marL="285750" indent="-285750">
              <a:buFont typeface="Arial" panose="020B0604020202020204" pitchFamily="34" charset="0"/>
              <a:buChar char="•"/>
            </a:pPr>
            <a:r>
              <a:rPr lang="en-US" dirty="0"/>
              <a:t>Aircraft engines </a:t>
            </a:r>
          </a:p>
          <a:p>
            <a:pPr marL="285750" indent="-285750">
              <a:buFont typeface="Arial" panose="020B0604020202020204" pitchFamily="34" charset="0"/>
              <a:buChar char="•"/>
            </a:pPr>
            <a:r>
              <a:rPr lang="en-US" dirty="0"/>
              <a:t>Jet turbines </a:t>
            </a:r>
          </a:p>
          <a:p>
            <a:pPr marL="285750" indent="-285750">
              <a:buFont typeface="Arial" panose="020B0604020202020204" pitchFamily="34" charset="0"/>
              <a:buChar char="•"/>
            </a:pPr>
            <a:r>
              <a:rPr lang="en-US" dirty="0"/>
              <a:t>Power plant turbines</a:t>
            </a:r>
          </a:p>
          <a:p>
            <a:endParaRPr lang="en-US" dirty="0"/>
          </a:p>
        </p:txBody>
      </p:sp>
      <p:pic>
        <p:nvPicPr>
          <p:cNvPr id="6" name="Picture 5">
            <a:extLst>
              <a:ext uri="{FF2B5EF4-FFF2-40B4-BE49-F238E27FC236}">
                <a16:creationId xmlns:a16="http://schemas.microsoft.com/office/drawing/2014/main" id="{7EE7A94F-19DA-419F-642C-99B6D1476BB6}"/>
              </a:ext>
            </a:extLst>
          </p:cNvPr>
          <p:cNvPicPr>
            <a:picLocks noChangeAspect="1"/>
          </p:cNvPicPr>
          <p:nvPr/>
        </p:nvPicPr>
        <p:blipFill>
          <a:blip r:embed="rId3"/>
          <a:stretch>
            <a:fillRect/>
          </a:stretch>
        </p:blipFill>
        <p:spPr>
          <a:xfrm>
            <a:off x="1236518" y="4004351"/>
            <a:ext cx="2907723" cy="1872574"/>
          </a:xfrm>
          <a:prstGeom prst="rect">
            <a:avLst/>
          </a:prstGeom>
        </p:spPr>
      </p:pic>
      <p:sp>
        <p:nvSpPr>
          <p:cNvPr id="7" name="TextBox 6">
            <a:extLst>
              <a:ext uri="{FF2B5EF4-FFF2-40B4-BE49-F238E27FC236}">
                <a16:creationId xmlns:a16="http://schemas.microsoft.com/office/drawing/2014/main" id="{B6A9F4D8-C213-F399-4C8B-94B0F74A146A}"/>
              </a:ext>
            </a:extLst>
          </p:cNvPr>
          <p:cNvSpPr txBox="1"/>
          <p:nvPr/>
        </p:nvSpPr>
        <p:spPr>
          <a:xfrm>
            <a:off x="1609724" y="5876925"/>
            <a:ext cx="2722419" cy="307777"/>
          </a:xfrm>
          <a:prstGeom prst="rect">
            <a:avLst/>
          </a:prstGeom>
          <a:noFill/>
        </p:spPr>
        <p:txBody>
          <a:bodyPr wrap="square" rtlCol="0">
            <a:spAutoFit/>
          </a:bodyPr>
          <a:lstStyle/>
          <a:p>
            <a:r>
              <a:rPr lang="en-IN" sz="1400" b="1" dirty="0"/>
              <a:t>Aircraft engine</a:t>
            </a:r>
          </a:p>
        </p:txBody>
      </p:sp>
      <p:pic>
        <p:nvPicPr>
          <p:cNvPr id="9" name="Picture 8">
            <a:extLst>
              <a:ext uri="{FF2B5EF4-FFF2-40B4-BE49-F238E27FC236}">
                <a16:creationId xmlns:a16="http://schemas.microsoft.com/office/drawing/2014/main" id="{09D9D903-B15A-473A-0818-A2B1CC5E2E8B}"/>
              </a:ext>
            </a:extLst>
          </p:cNvPr>
          <p:cNvPicPr>
            <a:picLocks noChangeAspect="1"/>
          </p:cNvPicPr>
          <p:nvPr/>
        </p:nvPicPr>
        <p:blipFill>
          <a:blip r:embed="rId4"/>
          <a:stretch>
            <a:fillRect/>
          </a:stretch>
        </p:blipFill>
        <p:spPr>
          <a:xfrm>
            <a:off x="4620809" y="4043722"/>
            <a:ext cx="2950381" cy="1793832"/>
          </a:xfrm>
          <a:prstGeom prst="rect">
            <a:avLst/>
          </a:prstGeom>
        </p:spPr>
      </p:pic>
      <p:sp>
        <p:nvSpPr>
          <p:cNvPr id="10" name="TextBox 9">
            <a:extLst>
              <a:ext uri="{FF2B5EF4-FFF2-40B4-BE49-F238E27FC236}">
                <a16:creationId xmlns:a16="http://schemas.microsoft.com/office/drawing/2014/main" id="{A10B16CC-316D-1EE2-5B01-9F3E871EC199}"/>
              </a:ext>
            </a:extLst>
          </p:cNvPr>
          <p:cNvSpPr txBox="1"/>
          <p:nvPr/>
        </p:nvSpPr>
        <p:spPr>
          <a:xfrm>
            <a:off x="4592782" y="5837554"/>
            <a:ext cx="3267077" cy="307777"/>
          </a:xfrm>
          <a:prstGeom prst="rect">
            <a:avLst/>
          </a:prstGeom>
          <a:noFill/>
        </p:spPr>
        <p:txBody>
          <a:bodyPr wrap="square" rtlCol="0">
            <a:spAutoFit/>
          </a:bodyPr>
          <a:lstStyle/>
          <a:p>
            <a:r>
              <a:rPr lang="en-US" sz="1400" b="1" dirty="0"/>
              <a:t>Jet turbine engine</a:t>
            </a:r>
          </a:p>
        </p:txBody>
      </p:sp>
      <p:pic>
        <p:nvPicPr>
          <p:cNvPr id="12" name="Picture 11">
            <a:extLst>
              <a:ext uri="{FF2B5EF4-FFF2-40B4-BE49-F238E27FC236}">
                <a16:creationId xmlns:a16="http://schemas.microsoft.com/office/drawing/2014/main" id="{8EC8721C-F1A8-BEC7-FD88-B494CDD6F17A}"/>
              </a:ext>
            </a:extLst>
          </p:cNvPr>
          <p:cNvPicPr>
            <a:picLocks noChangeAspect="1"/>
          </p:cNvPicPr>
          <p:nvPr/>
        </p:nvPicPr>
        <p:blipFill>
          <a:blip r:embed="rId5"/>
          <a:stretch>
            <a:fillRect/>
          </a:stretch>
        </p:blipFill>
        <p:spPr>
          <a:xfrm>
            <a:off x="8308400" y="4043722"/>
            <a:ext cx="1800225" cy="1800225"/>
          </a:xfrm>
          <a:prstGeom prst="rect">
            <a:avLst/>
          </a:prstGeom>
        </p:spPr>
      </p:pic>
      <p:sp>
        <p:nvSpPr>
          <p:cNvPr id="13" name="TextBox 12">
            <a:extLst>
              <a:ext uri="{FF2B5EF4-FFF2-40B4-BE49-F238E27FC236}">
                <a16:creationId xmlns:a16="http://schemas.microsoft.com/office/drawing/2014/main" id="{F404BDF0-A4E1-FE60-09B1-850701A95540}"/>
              </a:ext>
            </a:extLst>
          </p:cNvPr>
          <p:cNvSpPr txBox="1"/>
          <p:nvPr/>
        </p:nvSpPr>
        <p:spPr>
          <a:xfrm>
            <a:off x="8228734" y="5843947"/>
            <a:ext cx="2254828" cy="307777"/>
          </a:xfrm>
          <a:prstGeom prst="rect">
            <a:avLst/>
          </a:prstGeom>
          <a:noFill/>
        </p:spPr>
        <p:txBody>
          <a:bodyPr wrap="square" rtlCol="0">
            <a:spAutoFit/>
          </a:bodyPr>
          <a:lstStyle/>
          <a:p>
            <a:r>
              <a:rPr lang="en-US" sz="1400" b="1" dirty="0"/>
              <a:t>Power plant turbines</a:t>
            </a:r>
          </a:p>
        </p:txBody>
      </p:sp>
    </p:spTree>
    <p:extLst>
      <p:ext uri="{BB962C8B-B14F-4D97-AF65-F5344CB8AC3E}">
        <p14:creationId xmlns:p14="http://schemas.microsoft.com/office/powerpoint/2010/main" val="3680019744"/>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E6A0BE-2DE4-AD1C-DA59-C18C938B75F1}"/>
              </a:ext>
            </a:extLst>
          </p:cNvPr>
          <p:cNvSpPr txBox="1"/>
          <p:nvPr/>
        </p:nvSpPr>
        <p:spPr>
          <a:xfrm>
            <a:off x="2521527" y="166255"/>
            <a:ext cx="7148946" cy="830997"/>
          </a:xfrm>
          <a:prstGeom prst="rect">
            <a:avLst/>
          </a:prstGeom>
          <a:noFill/>
        </p:spPr>
        <p:txBody>
          <a:bodyPr wrap="square" rtlCol="0">
            <a:spAutoFit/>
          </a:bodyPr>
          <a:lstStyle/>
          <a:p>
            <a:pPr algn="ctr"/>
            <a:r>
              <a:rPr lang="en-IN" sz="4800" dirty="0">
                <a:solidFill>
                  <a:srgbClr val="002060"/>
                </a:solidFill>
                <a:latin typeface="Algerian" panose="04020705040A02060702" pitchFamily="82" charset="0"/>
              </a:rPr>
              <a:t>CONCLUSION</a:t>
            </a:r>
          </a:p>
        </p:txBody>
      </p:sp>
      <p:sp>
        <p:nvSpPr>
          <p:cNvPr id="5" name="TextBox 4">
            <a:extLst>
              <a:ext uri="{FF2B5EF4-FFF2-40B4-BE49-F238E27FC236}">
                <a16:creationId xmlns:a16="http://schemas.microsoft.com/office/drawing/2014/main" id="{5D304210-2BB2-6965-267A-F65BABD6B31C}"/>
              </a:ext>
            </a:extLst>
          </p:cNvPr>
          <p:cNvSpPr txBox="1"/>
          <p:nvPr/>
        </p:nvSpPr>
        <p:spPr>
          <a:xfrm>
            <a:off x="1182385" y="1120676"/>
            <a:ext cx="9964882" cy="923330"/>
          </a:xfrm>
          <a:prstGeom prst="rect">
            <a:avLst/>
          </a:prstGeom>
          <a:noFill/>
        </p:spPr>
        <p:txBody>
          <a:bodyPr wrap="square" rtlCol="0">
            <a:spAutoFit/>
          </a:bodyPr>
          <a:lstStyle/>
          <a:p>
            <a:r>
              <a:rPr lang="en-US" dirty="0"/>
              <a:t>The comparison of Inconel-713 (without coating) and coating of different material such as YSZ</a:t>
            </a:r>
          </a:p>
          <a:p>
            <a:r>
              <a:rPr lang="en-IN" dirty="0"/>
              <a:t>(</a:t>
            </a:r>
            <a:r>
              <a:rPr lang="en-IN" dirty="0" err="1"/>
              <a:t>Yattria</a:t>
            </a:r>
            <a:r>
              <a:rPr lang="en-IN" dirty="0"/>
              <a:t> Stabilized Zirconia as shown in the above. </a:t>
            </a:r>
            <a:r>
              <a:rPr lang="en-US" dirty="0"/>
              <a:t>From the above comparison, it is found that YSZ coating has minimum deformation and minimum Von-misses stress.</a:t>
            </a:r>
            <a:endParaRPr lang="en-IN" dirty="0"/>
          </a:p>
        </p:txBody>
      </p:sp>
      <p:sp>
        <p:nvSpPr>
          <p:cNvPr id="6" name="TextBox 5">
            <a:extLst>
              <a:ext uri="{FF2B5EF4-FFF2-40B4-BE49-F238E27FC236}">
                <a16:creationId xmlns:a16="http://schemas.microsoft.com/office/drawing/2014/main" id="{92B552FD-7B85-A5D7-9E5C-5437DB46B732}"/>
              </a:ext>
            </a:extLst>
          </p:cNvPr>
          <p:cNvSpPr txBox="1"/>
          <p:nvPr/>
        </p:nvSpPr>
        <p:spPr>
          <a:xfrm>
            <a:off x="679763" y="2167430"/>
            <a:ext cx="10183091" cy="2585323"/>
          </a:xfrm>
          <a:prstGeom prst="rect">
            <a:avLst/>
          </a:prstGeom>
          <a:noFill/>
        </p:spPr>
        <p:txBody>
          <a:bodyPr wrap="square" rtlCol="0">
            <a:spAutoFit/>
          </a:bodyPr>
          <a:lstStyle/>
          <a:p>
            <a:pPr algn="ctr"/>
            <a:r>
              <a:rPr lang="en-US" b="1" dirty="0">
                <a:solidFill>
                  <a:srgbClr val="FF0000"/>
                </a:solidFill>
              </a:rPr>
              <a:t>Compared to the uncoated blade, the coated blade shows:</a:t>
            </a:r>
          </a:p>
          <a:p>
            <a:endParaRPr lang="en-US" b="1" dirty="0">
              <a:solidFill>
                <a:srgbClr val="FF0000"/>
              </a:solidFill>
            </a:endParaRPr>
          </a:p>
          <a:p>
            <a:pPr marL="285750" indent="-285750">
              <a:buFont typeface="Arial" panose="020B0604020202020204" pitchFamily="34" charset="0"/>
              <a:buChar char="•"/>
            </a:pPr>
            <a:r>
              <a:rPr lang="en-US" dirty="0"/>
              <a:t>Lower temperature effect on the blade body </a:t>
            </a:r>
          </a:p>
          <a:p>
            <a:pPr marL="285750" indent="-285750">
              <a:buFont typeface="Arial" panose="020B0604020202020204" pitchFamily="34" charset="0"/>
              <a:buChar char="•"/>
            </a:pPr>
            <a:r>
              <a:rPr lang="en-US" dirty="0"/>
              <a:t>Better thermal protection </a:t>
            </a:r>
          </a:p>
          <a:p>
            <a:pPr marL="285750" indent="-285750">
              <a:buFont typeface="Arial" panose="020B0604020202020204" pitchFamily="34" charset="0"/>
              <a:buChar char="•"/>
            </a:pPr>
            <a:r>
              <a:rPr lang="en-US" dirty="0"/>
              <a:t>Reduced heat transfer </a:t>
            </a:r>
          </a:p>
          <a:p>
            <a:pPr marL="285750" indent="-285750">
              <a:buFont typeface="Arial" panose="020B0604020202020204" pitchFamily="34" charset="0"/>
              <a:buChar char="•"/>
            </a:pPr>
            <a:r>
              <a:rPr lang="en-US" dirty="0"/>
              <a:t>Improved structural safety </a:t>
            </a:r>
          </a:p>
          <a:p>
            <a:pPr marL="285750" indent="-285750">
              <a:buFont typeface="Arial" panose="020B0604020202020204" pitchFamily="34" charset="0"/>
              <a:buChar char="•"/>
            </a:pPr>
            <a:r>
              <a:rPr lang="en-US" dirty="0"/>
              <a:t>Increased blade durability</a:t>
            </a:r>
          </a:p>
          <a:p>
            <a:pPr marL="285750" indent="-285750">
              <a:buFont typeface="Arial" panose="020B0604020202020204" pitchFamily="34" charset="0"/>
              <a:buChar char="•"/>
            </a:pPr>
            <a:r>
              <a:rPr lang="en-US" dirty="0"/>
              <a:t>YSZ coating is suitable for high-temperature aerospace turbine applications.</a:t>
            </a:r>
          </a:p>
          <a:p>
            <a:endParaRPr lang="en-IN" dirty="0"/>
          </a:p>
        </p:txBody>
      </p:sp>
    </p:spTree>
    <p:extLst>
      <p:ext uri="{BB962C8B-B14F-4D97-AF65-F5344CB8AC3E}">
        <p14:creationId xmlns:p14="http://schemas.microsoft.com/office/powerpoint/2010/main" val="2672386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8CCBA-BAA2-2E7D-4EEE-15E03A729259}"/>
              </a:ext>
            </a:extLst>
          </p:cNvPr>
          <p:cNvSpPr>
            <a:spLocks noGrp="1"/>
          </p:cNvSpPr>
          <p:nvPr>
            <p:ph type="title"/>
          </p:nvPr>
        </p:nvSpPr>
        <p:spPr/>
        <p:txBody>
          <a:bodyPr/>
          <a:lstStyle/>
          <a:p>
            <a:pPr algn="ctr"/>
            <a:r>
              <a:rPr lang="en-IN" dirty="0">
                <a:solidFill>
                  <a:srgbClr val="00B050"/>
                </a:solidFill>
                <a:latin typeface="Algerian" panose="04020705040A02060702" pitchFamily="82" charset="0"/>
              </a:rPr>
              <a:t>References</a:t>
            </a:r>
          </a:p>
        </p:txBody>
      </p:sp>
      <p:sp>
        <p:nvSpPr>
          <p:cNvPr id="3" name="Content Placeholder 2">
            <a:extLst>
              <a:ext uri="{FF2B5EF4-FFF2-40B4-BE49-F238E27FC236}">
                <a16:creationId xmlns:a16="http://schemas.microsoft.com/office/drawing/2014/main" id="{E108D851-6CF7-24FA-A62C-321F0BA64BCF}"/>
              </a:ext>
            </a:extLst>
          </p:cNvPr>
          <p:cNvSpPr>
            <a:spLocks noGrp="1"/>
          </p:cNvSpPr>
          <p:nvPr>
            <p:ph idx="1"/>
          </p:nvPr>
        </p:nvSpPr>
        <p:spPr/>
        <p:txBody>
          <a:bodyPr/>
          <a:lstStyle/>
          <a:p>
            <a:pPr marL="457200" indent="-457200">
              <a:buFont typeface="+mj-lt"/>
              <a:buAutoNum type="arabicPeriod"/>
            </a:pPr>
            <a:r>
              <a:rPr lang="en-IN" dirty="0">
                <a:solidFill>
                  <a:schemeClr val="accent2">
                    <a:lumMod val="50000"/>
                  </a:schemeClr>
                </a:solidFill>
              </a:rPr>
              <a:t>R. Rajendran , M.D. </a:t>
            </a:r>
            <a:r>
              <a:rPr lang="en-IN" dirty="0" err="1">
                <a:solidFill>
                  <a:schemeClr val="accent2">
                    <a:lumMod val="50000"/>
                  </a:schemeClr>
                </a:solidFill>
              </a:rPr>
              <a:t>Ganeshachar</a:t>
            </a:r>
            <a:r>
              <a:rPr lang="en-IN" dirty="0">
                <a:solidFill>
                  <a:schemeClr val="accent2">
                    <a:lumMod val="50000"/>
                  </a:schemeClr>
                </a:solidFill>
              </a:rPr>
              <a:t>, </a:t>
            </a:r>
            <a:r>
              <a:rPr lang="en-IN" dirty="0" err="1">
                <a:solidFill>
                  <a:schemeClr val="accent2">
                    <a:lumMod val="50000"/>
                  </a:schemeClr>
                </a:solidFill>
              </a:rPr>
              <a:t>Jivankumar</a:t>
            </a:r>
            <a:r>
              <a:rPr lang="en-IN" dirty="0">
                <a:solidFill>
                  <a:schemeClr val="accent2">
                    <a:lumMod val="50000"/>
                  </a:schemeClr>
                </a:solidFill>
              </a:rPr>
              <a:t>, T. Mohana Rao,(2011),Condition assessment of gas turbine blades and coatings.</a:t>
            </a:r>
          </a:p>
          <a:p>
            <a:pPr marL="457200" indent="-457200">
              <a:buFont typeface="+mj-lt"/>
              <a:buAutoNum type="arabicPeriod"/>
            </a:pPr>
            <a:r>
              <a:rPr lang="en-IN" dirty="0">
                <a:solidFill>
                  <a:schemeClr val="accent2">
                    <a:lumMod val="50000"/>
                  </a:schemeClr>
                </a:solidFill>
              </a:rPr>
              <a:t>Józef </a:t>
            </a:r>
            <a:r>
              <a:rPr lang="en-IN" dirty="0" err="1">
                <a:solidFill>
                  <a:schemeClr val="accent2">
                    <a:lumMod val="50000"/>
                  </a:schemeClr>
                </a:solidFill>
              </a:rPr>
              <a:t>Błachnio</a:t>
            </a:r>
            <a:r>
              <a:rPr lang="en-IN" dirty="0">
                <a:solidFill>
                  <a:schemeClr val="accent2">
                    <a:lumMod val="50000"/>
                  </a:schemeClr>
                </a:solidFill>
              </a:rPr>
              <a:t> and Wojciech Izydor Pawlak (2011). Damageability of Gas Turbine Blades – Evaluation of Exhaust Gas Temperature in Front </a:t>
            </a:r>
            <a:r>
              <a:rPr lang="en-US" dirty="0">
                <a:solidFill>
                  <a:schemeClr val="accent2">
                    <a:lumMod val="50000"/>
                  </a:schemeClr>
                </a:solidFill>
              </a:rPr>
              <a:t>of the Turbine Using a Non-Linear Observer, Advances in Gas Turbine Technology.</a:t>
            </a:r>
          </a:p>
          <a:p>
            <a:pPr marL="457200" indent="-457200">
              <a:buFont typeface="+mj-lt"/>
              <a:buAutoNum type="arabicPeriod"/>
            </a:pPr>
            <a:r>
              <a:rPr lang="en-US" dirty="0">
                <a:solidFill>
                  <a:schemeClr val="accent2">
                    <a:lumMod val="50000"/>
                  </a:schemeClr>
                </a:solidFill>
              </a:rPr>
              <a:t>David R. Clarke, Matthias Oechsner , and Nitin P. </a:t>
            </a:r>
            <a:r>
              <a:rPr lang="en-US" dirty="0" err="1">
                <a:solidFill>
                  <a:schemeClr val="accent2">
                    <a:lumMod val="50000"/>
                  </a:schemeClr>
                </a:solidFill>
              </a:rPr>
              <a:t>Padture</a:t>
            </a:r>
            <a:r>
              <a:rPr lang="en-US" dirty="0">
                <a:solidFill>
                  <a:schemeClr val="accent2">
                    <a:lumMod val="50000"/>
                  </a:schemeClr>
                </a:solidFill>
              </a:rPr>
              <a:t> ,Guest Editors,(2012),Thermal- barrier coatings for more efficient gas-turbine </a:t>
            </a:r>
            <a:r>
              <a:rPr lang="en-IN" dirty="0">
                <a:solidFill>
                  <a:schemeClr val="accent2">
                    <a:lumMod val="50000"/>
                  </a:schemeClr>
                </a:solidFill>
              </a:rPr>
              <a:t>engines.</a:t>
            </a:r>
          </a:p>
          <a:p>
            <a:pPr marL="457200" indent="-457200">
              <a:buFont typeface="+mj-lt"/>
              <a:buAutoNum type="arabicPeriod"/>
            </a:pPr>
            <a:r>
              <a:rPr lang="en-US" dirty="0">
                <a:solidFill>
                  <a:schemeClr val="accent2">
                    <a:lumMod val="50000"/>
                  </a:schemeClr>
                </a:solidFill>
              </a:rPr>
              <a:t>N. Asok Kumar, S.R. Kale,(2002), Numerical simulation of steady state heat transfer in a ceramic-coated gas turbine blade.</a:t>
            </a:r>
            <a:endParaRPr lang="en-IN" dirty="0">
              <a:solidFill>
                <a:schemeClr val="accent2">
                  <a:lumMod val="50000"/>
                </a:schemeClr>
              </a:solidFill>
            </a:endParaRPr>
          </a:p>
        </p:txBody>
      </p:sp>
    </p:spTree>
    <p:extLst>
      <p:ext uri="{BB962C8B-B14F-4D97-AF65-F5344CB8AC3E}">
        <p14:creationId xmlns:p14="http://schemas.microsoft.com/office/powerpoint/2010/main" val="3191109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B13CC0-E2A8-3E77-5F4F-8A8BCBF83C4D}"/>
              </a:ext>
            </a:extLst>
          </p:cNvPr>
          <p:cNvSpPr txBox="1"/>
          <p:nvPr/>
        </p:nvSpPr>
        <p:spPr>
          <a:xfrm>
            <a:off x="4178710" y="2598003"/>
            <a:ext cx="3486852" cy="830997"/>
          </a:xfrm>
          <a:prstGeom prst="rect">
            <a:avLst/>
          </a:prstGeom>
          <a:noFill/>
        </p:spPr>
        <p:txBody>
          <a:bodyPr wrap="none" rtlCol="0">
            <a:spAutoFit/>
          </a:bodyPr>
          <a:lstStyle/>
          <a:p>
            <a:r>
              <a:rPr lang="en-IN" sz="4800" dirty="0">
                <a:latin typeface="Algerian" panose="04020705040A02060702" pitchFamily="82" charset="0"/>
              </a:rPr>
              <a:t>Thank you</a:t>
            </a:r>
          </a:p>
        </p:txBody>
      </p:sp>
    </p:spTree>
    <p:extLst>
      <p:ext uri="{BB962C8B-B14F-4D97-AF65-F5344CB8AC3E}">
        <p14:creationId xmlns:p14="http://schemas.microsoft.com/office/powerpoint/2010/main" val="100001620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735</TotalTime>
  <Words>790</Words>
  <Application>Microsoft Office PowerPoint</Application>
  <PresentationFormat>Widescreen</PresentationFormat>
  <Paragraphs>114</Paragraphs>
  <Slides>16</Slides>
  <Notes>0</Notes>
  <HiddenSlides>0</HiddenSlides>
  <MMClips>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Algerian</vt:lpstr>
      <vt:lpstr>Aptos Narrow</vt:lpstr>
      <vt:lpstr>Arial</vt:lpstr>
      <vt:lpstr>Artifakt Element</vt:lpstr>
      <vt:lpstr>Calibri</vt:lpstr>
      <vt:lpstr>Calibri Light</vt:lpstr>
      <vt:lpstr>Times New Roman</vt:lpstr>
      <vt:lpstr>Retrospect</vt:lpstr>
      <vt:lpstr>PowerPoint Presentation</vt:lpstr>
      <vt:lpstr>PowerPoint Presentation</vt:lpstr>
      <vt:lpstr>Problem Statement</vt:lpstr>
      <vt:lpstr>Material </vt:lpstr>
      <vt:lpstr>CAD MODEL</vt:lpstr>
      <vt:lpstr>Steps Completed..</vt:lpstr>
      <vt:lpstr>Mesh Analysis </vt:lpstr>
      <vt:lpstr>Thermal Analysis</vt:lpstr>
      <vt:lpstr>PowerPoint Presentation</vt:lpstr>
      <vt:lpstr>Structural Analysis</vt:lpstr>
      <vt:lpstr>PowerPoint Presentation</vt:lpstr>
      <vt:lpstr>Results comparison</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Sharon Philip</dc:creator>
  <cp:lastModifiedBy>Sharon Philip</cp:lastModifiedBy>
  <cp:revision>12</cp:revision>
  <dcterms:created xsi:type="dcterms:W3CDTF">2026-03-06T19:41:53Z</dcterms:created>
  <dcterms:modified xsi:type="dcterms:W3CDTF">2026-07-31T17:25:19Z</dcterms:modified>
</cp:coreProperties>
</file>